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0" r:id="rId3"/>
    <p:sldId id="265" r:id="rId4"/>
    <p:sldId id="263" r:id="rId5"/>
    <p:sldId id="262" r:id="rId6"/>
    <p:sldId id="264" r:id="rId7"/>
    <p:sldId id="266" r:id="rId8"/>
    <p:sldId id="261" r:id="rId9"/>
    <p:sldId id="268" r:id="rId10"/>
    <p:sldId id="270" r:id="rId11"/>
    <p:sldId id="269" r:id="rId12"/>
    <p:sldId id="280" r:id="rId13"/>
    <p:sldId id="267" r:id="rId14"/>
    <p:sldId id="285" r:id="rId15"/>
    <p:sldId id="286" r:id="rId16"/>
    <p:sldId id="287" r:id="rId17"/>
    <p:sldId id="272" r:id="rId18"/>
    <p:sldId id="271" r:id="rId19"/>
    <p:sldId id="274" r:id="rId20"/>
    <p:sldId id="275" r:id="rId21"/>
    <p:sldId id="276" r:id="rId22"/>
    <p:sldId id="277" r:id="rId23"/>
    <p:sldId id="278" r:id="rId24"/>
    <p:sldId id="279" r:id="rId25"/>
    <p:sldId id="290" r:id="rId26"/>
    <p:sldId id="292" r:id="rId27"/>
    <p:sldId id="291" r:id="rId28"/>
    <p:sldId id="282" r:id="rId29"/>
    <p:sldId id="283" r:id="rId30"/>
    <p:sldId id="284" r:id="rId31"/>
    <p:sldId id="288" r:id="rId32"/>
    <p:sldId id="289" r:id="rId33"/>
    <p:sldId id="27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7" d="100"/>
          <a:sy n="97" d="100"/>
        </p:scale>
        <p:origin x="13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0D574CB-D6B7-482D-9008-39E662DAFBCD}" type="datetimeFigureOut">
              <a:rPr lang="en-US" smtClean="0"/>
              <a:t>01/08/2018</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2526098149"/>
      </p:ext>
    </p:extLst>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D574CB-D6B7-482D-9008-39E662DAFBCD}" type="datetimeFigureOut">
              <a:rPr lang="en-US" smtClean="0"/>
              <a:t>01/08/2018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546441405"/>
      </p:ext>
    </p:extLst>
  </p:cSld>
  <p:clrMapOvr>
    <a:masterClrMapping/>
  </p:clrMapOvr>
  <p:transition spd="med">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D574CB-D6B7-482D-9008-39E662DAFBCD}" type="datetimeFigureOut">
              <a:rPr lang="en-US" smtClean="0"/>
              <a:t>01/08/2018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4001706018"/>
      </p:ext>
    </p:extLst>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3102917623"/>
      </p:ext>
    </p:extLst>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0D574CB-D6B7-482D-9008-39E662DAFBCD}" type="datetimeFigureOut">
              <a:rPr lang="en-US" smtClean="0"/>
              <a:t>01/08/2018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609957117"/>
      </p:ext>
    </p:extLst>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0D574CB-D6B7-482D-9008-39E662DAFBCD}" type="datetimeFigureOut">
              <a:rPr lang="en-US" smtClean="0"/>
              <a:t>01/08/2018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1896028298"/>
      </p:ext>
    </p:extLst>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D574CB-D6B7-482D-9008-39E662DAFBCD}" type="datetimeFigureOut">
              <a:rPr lang="en-US" smtClean="0"/>
              <a:t>01/08/2018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2530408455"/>
      </p:ext>
    </p:extLst>
  </p:cSld>
  <p:clrMapOvr>
    <a:masterClrMapping/>
  </p:clrMapOvr>
  <p:transition spd="med">
    <p:pull/>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1682110582"/>
      </p:ext>
    </p:extLst>
  </p:cSld>
  <p:clrMapOvr>
    <a:masterClrMapping/>
  </p:clrMapOvr>
  <p:transition spd="med">
    <p:pull/>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4166536256"/>
      </p:ext>
    </p:extLst>
  </p:cSld>
  <p:clrMapOvr>
    <a:masterClrMapping/>
  </p:clrMapOvr>
  <p:transition spd="med">
    <p:pull/>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2358562940"/>
      </p:ext>
    </p:extLst>
  </p:cSld>
  <p:clrMapOvr>
    <a:masterClrMapping/>
  </p:clrMapOvr>
  <p:transition spd="med">
    <p:pull/>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143071245"/>
      </p:ext>
    </p:extLst>
  </p:cSld>
  <p:clrMapOvr>
    <a:masterClrMapping/>
  </p:clrMapOvr>
  <p:transition spd="med">
    <p:pull/>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extLst>
      <p:ext uri="{BB962C8B-B14F-4D97-AF65-F5344CB8AC3E}">
        <p14:creationId xmlns:p14="http://schemas.microsoft.com/office/powerpoint/2010/main" val="3513925054"/>
      </p:ext>
    </p:extLst>
  </p:cSld>
  <p:clrMapOvr>
    <a:masterClrMapping/>
  </p:clrMapOvr>
  <p:transition spd="med">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D574CB-D6B7-482D-9008-39E662DAFBCD}" type="datetimeFigureOut">
              <a:rPr lang="en-US" smtClean="0"/>
              <a:t>01/08/2018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3946839622"/>
      </p:ext>
    </p:extLst>
  </p:cSld>
  <p:clrMapOvr>
    <a:masterClrMapping/>
  </p:clrMapOvr>
  <p:transition spd="med">
    <p:pull/>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0D574CB-D6B7-482D-9008-39E662DAFBCD}" type="datetimeFigureOut">
              <a:rPr lang="en-US" smtClean="0"/>
              <a:t>01/08/2018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3227736609"/>
      </p:ext>
    </p:extLst>
  </p:cSld>
  <p:clrMapOvr>
    <a:masterClrMapping/>
  </p:clrMapOvr>
  <p:transition spd="med">
    <p:pull/>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00D574CB-D6B7-482D-9008-39E662DAFBCD}" type="datetimeFigureOut">
              <a:rPr lang="en-US" smtClean="0"/>
              <a:t>01/08/2018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918071098"/>
      </p:ext>
    </p:extLst>
  </p:cSld>
  <p:clrMapOvr>
    <a:masterClrMapping/>
  </p:clrMapOvr>
  <p:transition spd="med">
    <p:pull/>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D574CB-D6B7-482D-9008-39E662DAFBCD}" type="datetimeFigureOut">
              <a:rPr lang="en-US" smtClean="0"/>
              <a:t>01/08/2018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1448217840"/>
      </p:ext>
    </p:extLst>
  </p:cSld>
  <p:clrMapOvr>
    <a:masterClrMapping/>
  </p:clrMapOvr>
  <p:transition spd="med">
    <p:pull/>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0D574CB-D6B7-482D-9008-39E662DAFBCD}" type="datetimeFigureOut">
              <a:rPr lang="en-US" smtClean="0"/>
              <a:t>01/08/2018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C00FFB-AEE3-4B60-858B-9CBAD0A03AD6}" type="slidenum">
              <a:rPr lang="en-US" smtClean="0"/>
              <a:t>‹#›</a:t>
            </a:fld>
            <a:endParaRPr lang="en-US"/>
          </a:p>
        </p:txBody>
      </p:sp>
    </p:spTree>
    <p:extLst>
      <p:ext uri="{BB962C8B-B14F-4D97-AF65-F5344CB8AC3E}">
        <p14:creationId xmlns:p14="http://schemas.microsoft.com/office/powerpoint/2010/main" val="1518429899"/>
      </p:ext>
    </p:extLst>
  </p:cSld>
  <p:clrMapOvr>
    <a:masterClrMapping/>
  </p:clrMapOvr>
  <p:transition spd="med">
    <p:pull/>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0D574CB-D6B7-482D-9008-39E662DAFBCD}" type="datetimeFigureOut">
              <a:rPr lang="en-US" smtClean="0"/>
              <a:t>01/08/2018</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0C00FFB-AEE3-4B60-858B-9CBAD0A03AD6}" type="slidenum">
              <a:rPr lang="en-US" smtClean="0"/>
              <a:t>‹#›</a:t>
            </a:fld>
            <a:endParaRPr lang="en-US"/>
          </a:p>
        </p:txBody>
      </p:sp>
    </p:spTree>
    <p:extLst>
      <p:ext uri="{BB962C8B-B14F-4D97-AF65-F5344CB8AC3E}">
        <p14:creationId xmlns:p14="http://schemas.microsoft.com/office/powerpoint/2010/main" val="384620793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ransition spd="med">
    <p:pull/>
  </p:transition>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file:///\\192.168.0.6\Reference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4906" y="-392531"/>
            <a:ext cx="3785020" cy="2636291"/>
          </a:xfrm>
          <a:prstGeom prst="rect">
            <a:avLst/>
          </a:prstGeom>
        </p:spPr>
      </p:pic>
      <p:sp>
        <p:nvSpPr>
          <p:cNvPr id="2" name="Title 1"/>
          <p:cNvSpPr>
            <a:spLocks noGrp="1"/>
          </p:cNvSpPr>
          <p:nvPr>
            <p:ph type="ctrTitle"/>
          </p:nvPr>
        </p:nvSpPr>
        <p:spPr>
          <a:xfrm>
            <a:off x="2205636" y="2101519"/>
            <a:ext cx="8791575" cy="2387600"/>
          </a:xfrm>
        </p:spPr>
        <p:txBody>
          <a:bodyPr>
            <a:noAutofit/>
          </a:bodyPr>
          <a:lstStyle/>
          <a:p>
            <a:pPr algn="ctr"/>
            <a:r>
              <a:rPr lang="en-US" sz="6600" b="1" dirty="0" err="1" smtClean="0">
                <a:solidFill>
                  <a:srgbClr val="005AAB"/>
                </a:solidFill>
                <a:latin typeface="Tahoma" panose="020B0604030504040204" pitchFamily="34" charset="0"/>
                <a:ea typeface="Tahoma" panose="020B0604030504040204" pitchFamily="34" charset="0"/>
                <a:cs typeface="Tahoma" panose="020B0604030504040204" pitchFamily="34" charset="0"/>
              </a:rPr>
              <a:t>Quy</a:t>
            </a:r>
            <a:r>
              <a:rPr lang="en-US" sz="6600" b="1" dirty="0" smtClean="0">
                <a:solidFill>
                  <a:srgbClr val="005AAB"/>
                </a:solidFill>
                <a:latin typeface="Tahoma" panose="020B0604030504040204" pitchFamily="34" charset="0"/>
                <a:ea typeface="Tahoma" panose="020B0604030504040204" pitchFamily="34" charset="0"/>
                <a:cs typeface="Tahoma" panose="020B0604030504040204" pitchFamily="34" charset="0"/>
              </a:rPr>
              <a:t> </a:t>
            </a:r>
            <a:r>
              <a:rPr lang="en-US" sz="6600" b="1" dirty="0" err="1" smtClean="0">
                <a:solidFill>
                  <a:srgbClr val="005AAB"/>
                </a:solidFill>
                <a:latin typeface="Tahoma" panose="020B0604030504040204" pitchFamily="34" charset="0"/>
                <a:ea typeface="Tahoma" panose="020B0604030504040204" pitchFamily="34" charset="0"/>
                <a:cs typeface="Tahoma" panose="020B0604030504040204" pitchFamily="34" charset="0"/>
              </a:rPr>
              <a:t>định</a:t>
            </a:r>
            <a:r>
              <a:rPr lang="en-US" sz="6600" b="1" dirty="0" smtClean="0">
                <a:solidFill>
                  <a:srgbClr val="005AAB"/>
                </a:solidFill>
                <a:latin typeface="Tahoma" panose="020B0604030504040204" pitchFamily="34" charset="0"/>
                <a:ea typeface="Tahoma" panose="020B0604030504040204" pitchFamily="34" charset="0"/>
                <a:cs typeface="Tahoma" panose="020B0604030504040204" pitchFamily="34" charset="0"/>
              </a:rPr>
              <a:t> </a:t>
            </a:r>
            <a:r>
              <a:rPr lang="en-US" sz="6600" b="1" dirty="0" err="1" smtClean="0">
                <a:solidFill>
                  <a:srgbClr val="005AAB"/>
                </a:solidFill>
                <a:latin typeface="Tahoma" panose="020B0604030504040204" pitchFamily="34" charset="0"/>
                <a:ea typeface="Tahoma" panose="020B0604030504040204" pitchFamily="34" charset="0"/>
                <a:cs typeface="Tahoma" panose="020B0604030504040204" pitchFamily="34" charset="0"/>
              </a:rPr>
              <a:t>phòng</a:t>
            </a:r>
            <a:r>
              <a:rPr lang="en-US" sz="6600" b="1" dirty="0" smtClean="0">
                <a:solidFill>
                  <a:srgbClr val="005AAB"/>
                </a:solidFill>
                <a:latin typeface="Tahoma" panose="020B0604030504040204" pitchFamily="34" charset="0"/>
                <a:ea typeface="Tahoma" panose="020B0604030504040204" pitchFamily="34" charset="0"/>
                <a:cs typeface="Tahoma" panose="020B0604030504040204" pitchFamily="34" charset="0"/>
              </a:rPr>
              <a:t> </a:t>
            </a:r>
            <a:r>
              <a:rPr lang="en-US" sz="6600" b="1" dirty="0" err="1" smtClean="0">
                <a:solidFill>
                  <a:srgbClr val="005AAB"/>
                </a:solidFill>
                <a:latin typeface="Tahoma" panose="020B0604030504040204" pitchFamily="34" charset="0"/>
                <a:ea typeface="Tahoma" panose="020B0604030504040204" pitchFamily="34" charset="0"/>
                <a:cs typeface="Tahoma" panose="020B0604030504040204" pitchFamily="34" charset="0"/>
              </a:rPr>
              <a:t>sản</a:t>
            </a:r>
            <a:r>
              <a:rPr lang="en-US" sz="6600" b="1" dirty="0" smtClean="0">
                <a:solidFill>
                  <a:srgbClr val="005AAB"/>
                </a:solidFill>
                <a:latin typeface="Tahoma" panose="020B0604030504040204" pitchFamily="34" charset="0"/>
                <a:ea typeface="Tahoma" panose="020B0604030504040204" pitchFamily="34" charset="0"/>
                <a:cs typeface="Tahoma" panose="020B0604030504040204" pitchFamily="34" charset="0"/>
              </a:rPr>
              <a:t> </a:t>
            </a:r>
            <a:r>
              <a:rPr lang="en-US" sz="6600" b="1" dirty="0" err="1" smtClean="0">
                <a:solidFill>
                  <a:srgbClr val="005AAB"/>
                </a:solidFill>
                <a:latin typeface="Tahoma" panose="020B0604030504040204" pitchFamily="34" charset="0"/>
                <a:ea typeface="Tahoma" panose="020B0604030504040204" pitchFamily="34" charset="0"/>
                <a:cs typeface="Tahoma" panose="020B0604030504040204" pitchFamily="34" charset="0"/>
              </a:rPr>
              <a:t>xuất</a:t>
            </a:r>
            <a:endParaRPr lang="en-US" sz="6600" b="1" dirty="0">
              <a:solidFill>
                <a:srgbClr val="005AAB"/>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Box 3"/>
          <p:cNvSpPr txBox="1"/>
          <p:nvPr/>
        </p:nvSpPr>
        <p:spPr>
          <a:xfrm>
            <a:off x="5095741" y="387005"/>
            <a:ext cx="7096259" cy="1077218"/>
          </a:xfrm>
          <a:prstGeom prst="rect">
            <a:avLst/>
          </a:prstGeom>
          <a:noFill/>
        </p:spPr>
        <p:txBody>
          <a:bodyPr wrap="square" rtlCol="0">
            <a:spAutoFit/>
          </a:bodyPr>
          <a:lstStyle/>
          <a:p>
            <a:r>
              <a:rPr lang="en-US" sz="3200" b="1" dirty="0" smtClean="0">
                <a:solidFill>
                  <a:srgbClr val="005AAB"/>
                </a:solidFill>
                <a:latin typeface="Calibri" panose="020F0502020204030204" pitchFamily="34" charset="0"/>
                <a:ea typeface="Tahoma" panose="020B0604030504040204" pitchFamily="34" charset="0"/>
                <a:cs typeface="Calibri" panose="020F0502020204030204" pitchFamily="34" charset="0"/>
              </a:rPr>
              <a:t>CÔNG TY TNHH TIẾN BỘ SÀI GÒN </a:t>
            </a:r>
          </a:p>
          <a:p>
            <a:r>
              <a:rPr lang="en-US" sz="3200" dirty="0" smtClean="0">
                <a:solidFill>
                  <a:schemeClr val="bg1">
                    <a:lumMod val="75000"/>
                    <a:lumOff val="25000"/>
                  </a:schemeClr>
                </a:solidFill>
                <a:latin typeface="Calibri" panose="020F0502020204030204" pitchFamily="34" charset="0"/>
                <a:ea typeface="Tahoma" panose="020B0604030504040204" pitchFamily="34" charset="0"/>
                <a:cs typeface="Calibri" panose="020F0502020204030204" pitchFamily="34" charset="0"/>
              </a:rPr>
              <a:t>ASCVN CO., LTD</a:t>
            </a:r>
            <a:endParaRPr lang="en-US" sz="3200" dirty="0">
              <a:solidFill>
                <a:schemeClr val="bg1">
                  <a:lumMod val="75000"/>
                  <a:lumOff val="25000"/>
                </a:schemeClr>
              </a:solidFill>
              <a:latin typeface="Calibri" panose="020F0502020204030204" pitchFamily="34" charset="0"/>
              <a:ea typeface="Tahom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994753299"/>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938" y="-10717"/>
            <a:ext cx="9613232" cy="1478570"/>
          </a:xfrm>
        </p:spPr>
        <p:txBody>
          <a:bodyPr>
            <a:normAutofit/>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CÁC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quy</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định</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về</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đánh</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giá</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khối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lượng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công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việc</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348916" y="1540042"/>
            <a:ext cx="11843084" cy="5317958"/>
          </a:xfrm>
        </p:spPr>
        <p:txBody>
          <a:bodyPr>
            <a:normAutofit fontScale="92500" lnSpcReduction="10000"/>
          </a:bodyPr>
          <a:lstStyle/>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Thời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gian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làm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việc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tuần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40h</a:t>
            </a: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Thời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gian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làm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việc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tháng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160h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tính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ngày</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thứ</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7)</a:t>
            </a: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Dev</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Test: 155h/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tháng</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Leader: 130h/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tháng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Quản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lý</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2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nhân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Phó</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phòng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110h/</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tháng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Quản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lý</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4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nhân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Trưởng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phòng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80h/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tháng</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Đối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với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cấp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độ</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Leader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trở</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nếu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số</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lượng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nhân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nhiều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hơn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thì</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sẽ</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giảm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5h cho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nhân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p:txBody>
      </p:sp>
    </p:spTree>
    <p:extLst>
      <p:ext uri="{BB962C8B-B14F-4D97-AF65-F5344CB8AC3E}">
        <p14:creationId xmlns:p14="http://schemas.microsoft.com/office/powerpoint/2010/main" val="192032486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1096" y="0"/>
            <a:ext cx="7648073" cy="1017777"/>
          </a:xfrm>
        </p:spPr>
        <p:txBody>
          <a:bodyPr>
            <a:normAutofit fontScale="90000"/>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BẢNG QUY ĐỊNH VỀ ĐÁNH GIÁ XẾP LOẠI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Thời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gian</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80474" y="1804737"/>
            <a:ext cx="11815010" cy="4908884"/>
          </a:xfrm>
        </p:spPr>
        <p:txBody>
          <a:bodyPr>
            <a:normAutofit/>
          </a:bodyPr>
          <a:lstStyle/>
          <a:p>
            <a:endPar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endPar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048407885"/>
              </p:ext>
            </p:extLst>
          </p:nvPr>
        </p:nvGraphicFramePr>
        <p:xfrm>
          <a:off x="1134979" y="1130968"/>
          <a:ext cx="10042357" cy="3801978"/>
        </p:xfrm>
        <a:graphic>
          <a:graphicData uri="http://schemas.openxmlformats.org/drawingml/2006/table">
            <a:tbl>
              <a:tblPr firstRow="1" bandRow="1">
                <a:tableStyleId>{073A0DAA-6AF3-43AB-8588-CEC1D06C72B9}</a:tableStyleId>
              </a:tblPr>
              <a:tblGrid>
                <a:gridCol w="557318"/>
                <a:gridCol w="2277209"/>
                <a:gridCol w="2648581"/>
                <a:gridCol w="2503634"/>
                <a:gridCol w="2055615"/>
              </a:tblGrid>
              <a:tr h="633663">
                <a:tc>
                  <a:txBody>
                    <a:bodyPr/>
                    <a:lstStyle/>
                    <a:p>
                      <a:pPr algn="ctr"/>
                      <a:endParaRPr lang="en-US" dirty="0"/>
                    </a:p>
                  </a:txBody>
                  <a:tcPr/>
                </a:tc>
                <a:tc>
                  <a:txBody>
                    <a:bodyPr/>
                    <a:lstStyle/>
                    <a:p>
                      <a:pPr algn="ctr"/>
                      <a:r>
                        <a:rPr lang="en-US" dirty="0" err="1" smtClean="0"/>
                        <a:t>Nhân</a:t>
                      </a:r>
                      <a:r>
                        <a:rPr lang="en-US" baseline="0" dirty="0" smtClean="0"/>
                        <a:t> </a:t>
                      </a:r>
                      <a:r>
                        <a:rPr lang="en-US" baseline="0" dirty="0" err="1" smtClean="0"/>
                        <a:t>viên</a:t>
                      </a:r>
                      <a:endParaRPr lang="en-US" dirty="0"/>
                    </a:p>
                  </a:txBody>
                  <a:tcPr/>
                </a:tc>
                <a:tc>
                  <a:txBody>
                    <a:bodyPr/>
                    <a:lstStyle/>
                    <a:p>
                      <a:pPr algn="ctr"/>
                      <a:r>
                        <a:rPr lang="en-US" dirty="0" smtClean="0"/>
                        <a:t>Leader</a:t>
                      </a:r>
                      <a:endParaRPr lang="en-US" dirty="0"/>
                    </a:p>
                  </a:txBody>
                  <a:tcPr/>
                </a:tc>
                <a:tc>
                  <a:txBody>
                    <a:bodyPr/>
                    <a:lstStyle/>
                    <a:p>
                      <a:pPr algn="ctr"/>
                      <a:r>
                        <a:rPr lang="en-US" dirty="0" err="1" smtClean="0"/>
                        <a:t>Phó</a:t>
                      </a:r>
                      <a:r>
                        <a:rPr lang="en-US" baseline="0" dirty="0" smtClean="0"/>
                        <a:t> </a:t>
                      </a:r>
                      <a:r>
                        <a:rPr lang="en-US" baseline="0" dirty="0" err="1" smtClean="0"/>
                        <a:t>phòng</a:t>
                      </a:r>
                      <a:endParaRPr lang="en-US" dirty="0"/>
                    </a:p>
                  </a:txBody>
                  <a:tcPr/>
                </a:tc>
                <a:tc>
                  <a:txBody>
                    <a:bodyPr/>
                    <a:lstStyle/>
                    <a:p>
                      <a:pPr algn="ctr"/>
                      <a:r>
                        <a:rPr lang="en-US" dirty="0" err="1" smtClean="0"/>
                        <a:t>Trưởng</a:t>
                      </a:r>
                      <a:r>
                        <a:rPr lang="en-US" baseline="0" dirty="0" smtClean="0"/>
                        <a:t> </a:t>
                      </a:r>
                      <a:r>
                        <a:rPr lang="en-US" baseline="0" dirty="0" err="1" smtClean="0"/>
                        <a:t>phòng</a:t>
                      </a:r>
                      <a:endParaRPr lang="en-US" dirty="0"/>
                    </a:p>
                  </a:txBody>
                  <a:tcPr/>
                </a:tc>
              </a:tr>
              <a:tr h="633663">
                <a:tc>
                  <a:txBody>
                    <a:bodyPr/>
                    <a:lstStyle/>
                    <a:p>
                      <a:pPr algn="ctr"/>
                      <a:r>
                        <a:rPr lang="en-US" dirty="0" smtClean="0"/>
                        <a:t>A</a:t>
                      </a:r>
                      <a:endParaRPr lang="en-US" dirty="0"/>
                    </a:p>
                  </a:txBody>
                  <a:tcPr/>
                </a:tc>
                <a:tc>
                  <a:txBody>
                    <a:bodyPr/>
                    <a:lstStyle/>
                    <a:p>
                      <a:pPr algn="ctr"/>
                      <a:r>
                        <a:rPr lang="en-US" dirty="0" smtClean="0"/>
                        <a:t>155</a:t>
                      </a:r>
                      <a:endParaRPr lang="en-US" dirty="0"/>
                    </a:p>
                  </a:txBody>
                  <a:tcPr/>
                </a:tc>
                <a:tc>
                  <a:txBody>
                    <a:bodyPr/>
                    <a:lstStyle/>
                    <a:p>
                      <a:pPr algn="ctr"/>
                      <a:r>
                        <a:rPr lang="en-US" dirty="0" smtClean="0"/>
                        <a:t>130</a:t>
                      </a:r>
                      <a:endParaRPr lang="en-US" dirty="0"/>
                    </a:p>
                  </a:txBody>
                  <a:tcPr/>
                </a:tc>
                <a:tc>
                  <a:txBody>
                    <a:bodyPr/>
                    <a:lstStyle/>
                    <a:p>
                      <a:pPr algn="ctr"/>
                      <a:r>
                        <a:rPr lang="en-US" dirty="0" smtClean="0"/>
                        <a:t>110</a:t>
                      </a:r>
                      <a:endParaRPr lang="en-US" dirty="0"/>
                    </a:p>
                  </a:txBody>
                  <a:tcPr/>
                </a:tc>
                <a:tc>
                  <a:txBody>
                    <a:bodyPr/>
                    <a:lstStyle/>
                    <a:p>
                      <a:pPr algn="ctr"/>
                      <a:r>
                        <a:rPr lang="en-US" dirty="0" smtClean="0"/>
                        <a:t>80</a:t>
                      </a:r>
                      <a:endParaRPr lang="en-US" dirty="0"/>
                    </a:p>
                  </a:txBody>
                  <a:tcPr/>
                </a:tc>
              </a:tr>
              <a:tr h="633663">
                <a:tc>
                  <a:txBody>
                    <a:bodyPr/>
                    <a:lstStyle/>
                    <a:p>
                      <a:pPr algn="ctr"/>
                      <a:r>
                        <a:rPr lang="en-US" dirty="0" smtClean="0"/>
                        <a:t>B</a:t>
                      </a:r>
                      <a:endParaRPr lang="en-US" dirty="0"/>
                    </a:p>
                  </a:txBody>
                  <a:tcPr/>
                </a:tc>
                <a:tc>
                  <a:txBody>
                    <a:bodyPr/>
                    <a:lstStyle/>
                    <a:p>
                      <a:pPr algn="ctr"/>
                      <a:r>
                        <a:rPr lang="en-US" dirty="0" smtClean="0"/>
                        <a:t>145</a:t>
                      </a:r>
                      <a:endParaRPr lang="en-US" dirty="0"/>
                    </a:p>
                  </a:txBody>
                  <a:tcPr/>
                </a:tc>
                <a:tc>
                  <a:txBody>
                    <a:bodyPr/>
                    <a:lstStyle/>
                    <a:p>
                      <a:pPr algn="ctr"/>
                      <a:r>
                        <a:rPr lang="en-US" dirty="0" smtClean="0"/>
                        <a:t>120</a:t>
                      </a:r>
                      <a:endParaRPr lang="en-US" dirty="0"/>
                    </a:p>
                  </a:txBody>
                  <a:tcPr/>
                </a:tc>
                <a:tc>
                  <a:txBody>
                    <a:bodyPr/>
                    <a:lstStyle/>
                    <a:p>
                      <a:pPr algn="ctr"/>
                      <a:r>
                        <a:rPr lang="en-US" dirty="0" smtClean="0"/>
                        <a:t>100</a:t>
                      </a:r>
                      <a:endParaRPr lang="en-US" dirty="0"/>
                    </a:p>
                  </a:txBody>
                  <a:tcPr/>
                </a:tc>
                <a:tc>
                  <a:txBody>
                    <a:bodyPr/>
                    <a:lstStyle/>
                    <a:p>
                      <a:pPr algn="ctr"/>
                      <a:r>
                        <a:rPr lang="en-US" dirty="0" smtClean="0"/>
                        <a:t>70</a:t>
                      </a:r>
                      <a:endParaRPr lang="en-US" dirty="0"/>
                    </a:p>
                  </a:txBody>
                  <a:tcPr/>
                </a:tc>
              </a:tr>
              <a:tr h="633663">
                <a:tc>
                  <a:txBody>
                    <a:bodyPr/>
                    <a:lstStyle/>
                    <a:p>
                      <a:pPr algn="ctr"/>
                      <a:r>
                        <a:rPr lang="en-US" dirty="0" smtClean="0"/>
                        <a:t>C</a:t>
                      </a:r>
                      <a:endParaRPr lang="en-US" dirty="0"/>
                    </a:p>
                  </a:txBody>
                  <a:tcPr/>
                </a:tc>
                <a:tc>
                  <a:txBody>
                    <a:bodyPr/>
                    <a:lstStyle/>
                    <a:p>
                      <a:pPr algn="ctr"/>
                      <a:r>
                        <a:rPr lang="en-US" dirty="0" smtClean="0"/>
                        <a:t>130</a:t>
                      </a:r>
                      <a:endParaRPr lang="en-US" dirty="0"/>
                    </a:p>
                  </a:txBody>
                  <a:tcPr/>
                </a:tc>
                <a:tc>
                  <a:txBody>
                    <a:bodyPr/>
                    <a:lstStyle/>
                    <a:p>
                      <a:pPr algn="ctr"/>
                      <a:r>
                        <a:rPr lang="en-US" dirty="0" smtClean="0"/>
                        <a:t>105</a:t>
                      </a:r>
                      <a:endParaRPr lang="en-US" dirty="0"/>
                    </a:p>
                  </a:txBody>
                  <a:tcPr/>
                </a:tc>
                <a:tc>
                  <a:txBody>
                    <a:bodyPr/>
                    <a:lstStyle/>
                    <a:p>
                      <a:pPr algn="ctr"/>
                      <a:r>
                        <a:rPr lang="en-US" dirty="0" smtClean="0"/>
                        <a:t>90</a:t>
                      </a:r>
                      <a:endParaRPr lang="en-US" dirty="0"/>
                    </a:p>
                  </a:txBody>
                  <a:tcPr/>
                </a:tc>
                <a:tc>
                  <a:txBody>
                    <a:bodyPr/>
                    <a:lstStyle/>
                    <a:p>
                      <a:pPr algn="ctr"/>
                      <a:r>
                        <a:rPr lang="en-US" dirty="0" smtClean="0"/>
                        <a:t>60</a:t>
                      </a:r>
                      <a:endParaRPr lang="en-US" dirty="0"/>
                    </a:p>
                  </a:txBody>
                  <a:tcPr/>
                </a:tc>
              </a:tr>
              <a:tr h="633663">
                <a:tc>
                  <a:txBody>
                    <a:bodyPr/>
                    <a:lstStyle/>
                    <a:p>
                      <a:pPr algn="ctr"/>
                      <a:r>
                        <a:rPr lang="en-US" dirty="0" smtClean="0"/>
                        <a:t>D</a:t>
                      </a:r>
                      <a:endParaRPr lang="en-US" dirty="0"/>
                    </a:p>
                  </a:txBody>
                  <a:tcPr/>
                </a:tc>
                <a:tc>
                  <a:txBody>
                    <a:bodyPr/>
                    <a:lstStyle/>
                    <a:p>
                      <a:pPr algn="ctr"/>
                      <a:r>
                        <a:rPr lang="en-US" dirty="0" smtClean="0"/>
                        <a:t>110</a:t>
                      </a:r>
                      <a:endParaRPr lang="en-US" dirty="0"/>
                    </a:p>
                  </a:txBody>
                  <a:tcPr/>
                </a:tc>
                <a:tc>
                  <a:txBody>
                    <a:bodyPr/>
                    <a:lstStyle/>
                    <a:p>
                      <a:pPr algn="ctr"/>
                      <a:r>
                        <a:rPr lang="en-US" dirty="0" smtClean="0"/>
                        <a:t>90</a:t>
                      </a:r>
                      <a:endParaRPr lang="en-US" dirty="0"/>
                    </a:p>
                  </a:txBody>
                  <a:tcPr/>
                </a:tc>
                <a:tc>
                  <a:txBody>
                    <a:bodyPr/>
                    <a:lstStyle/>
                    <a:p>
                      <a:pPr algn="ctr"/>
                      <a:r>
                        <a:rPr lang="en-US" dirty="0" smtClean="0"/>
                        <a:t>80</a:t>
                      </a:r>
                      <a:endParaRPr lang="en-US" dirty="0"/>
                    </a:p>
                  </a:txBody>
                  <a:tcPr/>
                </a:tc>
                <a:tc>
                  <a:txBody>
                    <a:bodyPr/>
                    <a:lstStyle/>
                    <a:p>
                      <a:pPr algn="ctr"/>
                      <a:r>
                        <a:rPr lang="en-US" dirty="0" smtClean="0"/>
                        <a:t>50</a:t>
                      </a:r>
                      <a:endParaRPr lang="en-US" dirty="0"/>
                    </a:p>
                  </a:txBody>
                  <a:tcPr/>
                </a:tc>
              </a:tr>
              <a:tr h="633663">
                <a:tc>
                  <a:txBody>
                    <a:bodyPr/>
                    <a:lstStyle/>
                    <a:p>
                      <a:pPr algn="ctr"/>
                      <a:r>
                        <a:rPr lang="en-US" dirty="0" smtClean="0"/>
                        <a:t>E</a:t>
                      </a:r>
                      <a:endParaRPr lang="en-US" dirty="0"/>
                    </a:p>
                  </a:txBody>
                  <a:tcPr/>
                </a:tc>
                <a:tc>
                  <a:txBody>
                    <a:bodyPr/>
                    <a:lstStyle/>
                    <a:p>
                      <a:pPr algn="ctr"/>
                      <a:r>
                        <a:rPr lang="en-US" dirty="0" smtClean="0"/>
                        <a:t>90</a:t>
                      </a:r>
                      <a:endParaRPr lang="en-US" dirty="0"/>
                    </a:p>
                  </a:txBody>
                  <a:tcPr/>
                </a:tc>
                <a:tc>
                  <a:txBody>
                    <a:bodyPr/>
                    <a:lstStyle/>
                    <a:p>
                      <a:pPr algn="ctr"/>
                      <a:r>
                        <a:rPr lang="en-US" dirty="0" smtClean="0"/>
                        <a:t>80</a:t>
                      </a:r>
                      <a:endParaRPr lang="en-US" dirty="0"/>
                    </a:p>
                  </a:txBody>
                  <a:tcPr/>
                </a:tc>
                <a:tc>
                  <a:txBody>
                    <a:bodyPr/>
                    <a:lstStyle/>
                    <a:p>
                      <a:pPr algn="ctr"/>
                      <a:r>
                        <a:rPr lang="en-US" dirty="0" smtClean="0"/>
                        <a:t>70</a:t>
                      </a:r>
                      <a:endParaRPr lang="en-US" dirty="0"/>
                    </a:p>
                  </a:txBody>
                  <a:tcPr/>
                </a:tc>
                <a:tc>
                  <a:txBody>
                    <a:bodyPr/>
                    <a:lstStyle/>
                    <a:p>
                      <a:pPr algn="ctr"/>
                      <a:r>
                        <a:rPr lang="en-US" dirty="0" smtClean="0"/>
                        <a:t>40</a:t>
                      </a:r>
                      <a:endParaRPr lang="en-US" dirty="0"/>
                    </a:p>
                  </a:txBody>
                  <a:tcPr/>
                </a:tc>
              </a:tr>
            </a:tbl>
          </a:graphicData>
        </a:graphic>
      </p:graphicFrame>
    </p:spTree>
    <p:extLst>
      <p:ext uri="{BB962C8B-B14F-4D97-AF65-F5344CB8AC3E}">
        <p14:creationId xmlns:p14="http://schemas.microsoft.com/office/powerpoint/2010/main" val="320775969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4980" y="113191"/>
            <a:ext cx="8995609" cy="1017777"/>
          </a:xfrm>
        </p:spPr>
        <p:txBody>
          <a:bodyPr>
            <a:normAutofit fontScale="90000"/>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BẢNG QUY ĐỊNH VỀ ĐÁNH GIÁ XẾP LOẠI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quản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lý</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80474" y="1804737"/>
            <a:ext cx="11815010" cy="4908884"/>
          </a:xfrm>
        </p:spPr>
        <p:txBody>
          <a:bodyPr>
            <a:normAutofit/>
          </a:bodyPr>
          <a:lstStyle/>
          <a:p>
            <a:endPar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endPar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143990090"/>
              </p:ext>
            </p:extLst>
          </p:nvPr>
        </p:nvGraphicFramePr>
        <p:xfrm>
          <a:off x="648365" y="1287369"/>
          <a:ext cx="10444751" cy="3729800"/>
        </p:xfrm>
        <a:graphic>
          <a:graphicData uri="http://schemas.openxmlformats.org/drawingml/2006/table">
            <a:tbl>
              <a:tblPr firstRow="1" bandRow="1">
                <a:tableStyleId>{073A0DAA-6AF3-43AB-8588-CEC1D06C72B9}</a:tableStyleId>
              </a:tblPr>
              <a:tblGrid>
                <a:gridCol w="749637"/>
                <a:gridCol w="3562555"/>
                <a:gridCol w="3367590"/>
                <a:gridCol w="2764969"/>
              </a:tblGrid>
              <a:tr h="745960">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Leader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smtClean="0">
                          <a:latin typeface="Times New Roman" panose="02020603050405020304" pitchFamily="18" charset="0"/>
                          <a:cs typeface="Times New Roman" panose="02020603050405020304" pitchFamily="18" charset="0"/>
                        </a:rPr>
                        <a:t>Phó</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phòng</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smtClean="0">
                          <a:latin typeface="Times New Roman" panose="02020603050405020304" pitchFamily="18" charset="0"/>
                          <a:cs typeface="Times New Roman" panose="02020603050405020304" pitchFamily="18" charset="0"/>
                        </a:rPr>
                        <a:t>Trưởng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phòng</a:t>
                      </a:r>
                      <a:endParaRPr lang="en-US" dirty="0">
                        <a:latin typeface="Times New Roman" panose="02020603050405020304" pitchFamily="18" charset="0"/>
                        <a:cs typeface="Times New Roman" panose="02020603050405020304" pitchFamily="18" charset="0"/>
                      </a:endParaRPr>
                    </a:p>
                  </a:txBody>
                  <a:tcPr/>
                </a:tc>
              </a:tr>
              <a:tr h="745960">
                <a:tc>
                  <a:txBody>
                    <a:bodyPr/>
                    <a:lstStyle/>
                    <a:p>
                      <a:pPr algn="ctr"/>
                      <a:r>
                        <a:rPr lang="en-US" dirty="0" smtClean="0">
                          <a:latin typeface="Times New Roman" panose="02020603050405020304" pitchFamily="18" charset="0"/>
                          <a:cs typeface="Times New Roman" panose="02020603050405020304" pitchFamily="18" charset="0"/>
                        </a:rPr>
                        <a:t>B</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1/2</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1/2</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1/2</a:t>
                      </a:r>
                      <a:endParaRPr lang="en-US" dirty="0">
                        <a:latin typeface="Times New Roman" panose="02020603050405020304" pitchFamily="18" charset="0"/>
                        <a:cs typeface="Times New Roman" panose="02020603050405020304" pitchFamily="18" charset="0"/>
                      </a:endParaRPr>
                    </a:p>
                  </a:txBody>
                  <a:tcPr/>
                </a:tc>
              </a:tr>
              <a:tr h="745960">
                <a:tc>
                  <a:txBody>
                    <a:bodyPr/>
                    <a:lstStyle/>
                    <a:p>
                      <a:pPr algn="ctr"/>
                      <a:r>
                        <a:rPr lang="en-US" dirty="0" smtClean="0">
                          <a:latin typeface="Times New Roman" panose="02020603050405020304" pitchFamily="18" charset="0"/>
                          <a:cs typeface="Times New Roman" panose="02020603050405020304" pitchFamily="18" charset="0"/>
                        </a:rPr>
                        <a:t>C</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2/3</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2/3</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2/3</a:t>
                      </a:r>
                      <a:endParaRPr lang="en-US" dirty="0">
                        <a:latin typeface="Times New Roman" panose="02020603050405020304" pitchFamily="18" charset="0"/>
                        <a:cs typeface="Times New Roman" panose="02020603050405020304" pitchFamily="18" charset="0"/>
                      </a:endParaRPr>
                    </a:p>
                  </a:txBody>
                  <a:tcPr/>
                </a:tc>
              </a:tr>
              <a:tr h="745960">
                <a:tc>
                  <a:txBody>
                    <a:bodyPr/>
                    <a:lstStyle/>
                    <a:p>
                      <a:pPr algn="ctr"/>
                      <a:r>
                        <a:rPr lang="en-US" dirty="0" smtClean="0">
                          <a:latin typeface="Times New Roman" panose="02020603050405020304" pitchFamily="18" charset="0"/>
                          <a:cs typeface="Times New Roman" panose="02020603050405020304" pitchFamily="18" charset="0"/>
                        </a:rPr>
                        <a:t>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txBody>
                  <a:tcPr/>
                </a:tc>
              </a:tr>
              <a:tr h="745960">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470515845"/>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37254"/>
            <a:ext cx="9905998" cy="1017778"/>
          </a:xfrm>
        </p:spPr>
        <p:txBody>
          <a:body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CÁC QUY ĐỊNH TRONG CODE</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141412" y="1431758"/>
            <a:ext cx="9905999" cy="5426241"/>
          </a:xfrm>
        </p:spPr>
        <p:txBody>
          <a:bodyPr>
            <a:normAutofit/>
          </a:bodyPr>
          <a:lstStyle/>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Script SQL </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Code C#</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Form, menu</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Control, Format</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Biểu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mẫu</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Refrences</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84323875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458" y="293665"/>
            <a:ext cx="11393906" cy="1138093"/>
          </a:xfrm>
        </p:spPr>
        <p:txBody>
          <a:body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QUY ĐỊNH code </a:t>
            </a:r>
            <a:r>
              <a:rPr lang="en-US" sz="4000"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sql</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070812" y="1299412"/>
            <a:ext cx="11121188" cy="5474368"/>
          </a:xfrm>
        </p:spPr>
        <p:txBody>
          <a:bodyPr>
            <a:normAutofit/>
          </a:bodyPr>
          <a:lstStyle/>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Table </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View</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Store</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Function</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Script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dữ</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liệu</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732201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457" y="0"/>
            <a:ext cx="11393906" cy="1478570"/>
          </a:xfrm>
        </p:spPr>
        <p:txBody>
          <a:body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QUY ĐỊNH </a:t>
            </a:r>
            <a:r>
              <a:rPr lang="en-US" sz="4000"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khi</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sz="4000"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tạo</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sz="4000"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chỉnh</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sz="4000"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sửa</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table</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92506" y="1431758"/>
            <a:ext cx="11999494" cy="5342021"/>
          </a:xfrm>
        </p:spPr>
        <p:txBody>
          <a:bodyPr>
            <a:normAutofit/>
          </a:bodyPr>
          <a:lstStyle/>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Đối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với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trường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hợp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thêm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mới</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endPar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endPar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Đối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với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trường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hợp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chỉnh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Tuyệt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đối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xóa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cột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kiểu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dữ</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liệu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trừ</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trường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hợp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nâng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Length)</a:t>
            </a:r>
          </a:p>
        </p:txBody>
      </p:sp>
      <p:graphicFrame>
        <p:nvGraphicFramePr>
          <p:cNvPr id="4" name="Table 3"/>
          <p:cNvGraphicFramePr>
            <a:graphicFrameLocks noGrp="1"/>
          </p:cNvGraphicFramePr>
          <p:nvPr>
            <p:extLst>
              <p:ext uri="{D42A27DB-BD31-4B8C-83A1-F6EECF244321}">
                <p14:modId xmlns:p14="http://schemas.microsoft.com/office/powerpoint/2010/main" val="1255521438"/>
              </p:ext>
            </p:extLst>
          </p:nvPr>
        </p:nvGraphicFramePr>
        <p:xfrm>
          <a:off x="409489" y="2187520"/>
          <a:ext cx="11152858" cy="3134360"/>
        </p:xfrm>
        <a:graphic>
          <a:graphicData uri="http://schemas.openxmlformats.org/drawingml/2006/table">
            <a:tbl>
              <a:tblPr firstRow="1" bandRow="1">
                <a:tableStyleId>{073A0DAA-6AF3-43AB-8588-CEC1D06C72B9}</a:tableStyleId>
              </a:tblPr>
              <a:tblGrid>
                <a:gridCol w="516186"/>
                <a:gridCol w="1763914"/>
                <a:gridCol w="2195231"/>
                <a:gridCol w="2815390"/>
                <a:gridCol w="3862137"/>
              </a:tblGrid>
              <a:tr h="370840">
                <a:tc>
                  <a:txBody>
                    <a:bodyPr/>
                    <a:lstStyle/>
                    <a:p>
                      <a:r>
                        <a:rPr lang="en-US" dirty="0" err="1" smtClean="0">
                          <a:latin typeface="Times New Roman" panose="02020603050405020304" pitchFamily="18" charset="0"/>
                          <a:cs typeface="Times New Roman" panose="02020603050405020304" pitchFamily="18" charset="0"/>
                        </a:rPr>
                        <a:t>Stt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Nội</a:t>
                      </a:r>
                      <a:r>
                        <a:rPr lang="en-US" baseline="0" dirty="0" smtClean="0">
                          <a:latin typeface="Times New Roman" panose="02020603050405020304" pitchFamily="18" charset="0"/>
                          <a:cs typeface="Times New Roman" panose="02020603050405020304" pitchFamily="18" charset="0"/>
                        </a:rPr>
                        <a:t> dung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Tên</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cột</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quy</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định</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Kiểu</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dữ</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Ghi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chú</a:t>
                      </a:r>
                      <a:endParaRPr lang="en-US"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Khóa</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chính</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Id (App); ID (web)</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Int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hoặc</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Bigint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Tùy</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theo</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nghiệp</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vụ</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và</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dữ</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Khóa</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ngoại</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IDXXX</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Theo </a:t>
                      </a:r>
                      <a:r>
                        <a:rPr lang="en-US" dirty="0" err="1" smtClean="0">
                          <a:latin typeface="Times New Roman" panose="02020603050405020304" pitchFamily="18" charset="0"/>
                          <a:cs typeface="Times New Roman" panose="02020603050405020304" pitchFamily="18" charset="0"/>
                        </a:rPr>
                        <a:t>khóa</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chính</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của</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bảng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tương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ứng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XXX </a:t>
                      </a:r>
                      <a:r>
                        <a:rPr lang="en-US" dirty="0" err="1" smtClean="0">
                          <a:latin typeface="Times New Roman" panose="02020603050405020304" pitchFamily="18" charset="0"/>
                          <a:cs typeface="Times New Roman" panose="02020603050405020304" pitchFamily="18" charset="0"/>
                        </a:rPr>
                        <a:t>là</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bảng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tương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ứng</a:t>
                      </a:r>
                      <a:endParaRPr lang="en-US" baseline="0" dirty="0" smtClean="0">
                        <a:latin typeface="Times New Roman" panose="02020603050405020304" pitchFamily="18" charset="0"/>
                        <a:cs typeface="Times New Roman" panose="02020603050405020304" pitchFamily="18" charset="0"/>
                      </a:endParaRPr>
                    </a:p>
                    <a:p>
                      <a:r>
                        <a:rPr lang="en-US" baseline="0" dirty="0" smtClean="0">
                          <a:latin typeface="Times New Roman" panose="02020603050405020304" pitchFamily="18" charset="0"/>
                          <a:cs typeface="Times New Roman" panose="02020603050405020304" pitchFamily="18" charset="0"/>
                        </a:rPr>
                        <a:t>VD: </a:t>
                      </a:r>
                      <a:r>
                        <a:rPr lang="en-US" baseline="0" dirty="0" err="1" smtClean="0">
                          <a:latin typeface="Times New Roman" panose="02020603050405020304" pitchFamily="18" charset="0"/>
                          <a:cs typeface="Times New Roman" panose="02020603050405020304" pitchFamily="18" charset="0"/>
                        </a:rPr>
                        <a:t>IDHeDaoTao</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DM_HeDaoTao</a:t>
                      </a:r>
                      <a:r>
                        <a:rPr lang="en-US" baseline="0"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Đặt</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mã</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MaXXX</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Nvarchar</a:t>
                      </a:r>
                      <a:r>
                        <a:rPr lang="en-US" dirty="0" smtClean="0">
                          <a:latin typeface="Times New Roman" panose="02020603050405020304" pitchFamily="18" charset="0"/>
                          <a:cs typeface="Times New Roman" panose="02020603050405020304" pitchFamily="18" charset="0"/>
                        </a:rPr>
                        <a:t>(20-50)</a:t>
                      </a:r>
                      <a:endParaRPr lang="en-US"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XXX </a:t>
                      </a:r>
                      <a:r>
                        <a:rPr lang="en-US" dirty="0" err="1" smtClean="0">
                          <a:latin typeface="Times New Roman" panose="02020603050405020304" pitchFamily="18" charset="0"/>
                          <a:cs typeface="Times New Roman" panose="02020603050405020304" pitchFamily="18" charset="0"/>
                        </a:rPr>
                        <a:t>là</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bảng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tương</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ứng</a:t>
                      </a:r>
                      <a:endParaRPr lang="en-US" baseline="0" dirty="0" smtClean="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4</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Cột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xác</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định</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xóa</a:t>
                      </a:r>
                      <a:r>
                        <a:rPr lang="en-US" baseline="0" dirty="0" smtClean="0">
                          <a:latin typeface="Times New Roman" panose="02020603050405020304" pitchFamily="18" charset="0"/>
                          <a:cs typeface="Times New Roman" panose="02020603050405020304" pitchFamily="18" charset="0"/>
                        </a:rPr>
                        <a:t> record</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IsDeleted</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Bit</a:t>
                      </a:r>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r>
              <a:tr h="370840">
                <a:tc>
                  <a:txBody>
                    <a:bodyPr/>
                    <a:lstStyle/>
                    <a:p>
                      <a:r>
                        <a:rPr lang="en-US" dirty="0" smtClean="0">
                          <a:latin typeface="Times New Roman" panose="02020603050405020304" pitchFamily="18" charset="0"/>
                          <a:cs typeface="Times New Roman" panose="02020603050405020304" pitchFamily="18" charset="0"/>
                        </a:rPr>
                        <a:t>5</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Kiểu</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dữ</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liệu</a:t>
                      </a:r>
                      <a:r>
                        <a:rPr lang="en-US" baseline="0" dirty="0" smtClean="0">
                          <a:latin typeface="Times New Roman" panose="02020603050405020304" pitchFamily="18" charset="0"/>
                          <a:cs typeface="Times New Roman" panose="02020603050405020304" pitchFamily="18" charset="0"/>
                        </a:rPr>
                        <a:t> Bit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Is.......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Bit</a:t>
                      </a:r>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r>
              <a:tr h="370840">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366771665"/>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490" y="974559"/>
            <a:ext cx="11658184" cy="5763126"/>
          </a:xfrm>
        </p:spPr>
        <p:txBody>
          <a:bodyPr>
            <a:normAutofit fontScale="77500" lnSpcReduction="20000"/>
          </a:bodyPr>
          <a:lstStyle/>
          <a:p>
            <a:pPr>
              <a:buFontTx/>
              <a:buChar char="-"/>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Xem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xét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tính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khả</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và</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cần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thiết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bổ</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sung view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mới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Cách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đặt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View_{1}_{2}</a:t>
            </a:r>
          </a:p>
          <a:p>
            <a:pPr marL="742950" indent="-742950">
              <a:buAutoNum type="arabicPeriod"/>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Sub model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hoặc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nhóm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chức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năng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Lưu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ý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các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view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trỏ</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sang DB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khác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thì</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là</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DB,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nếu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View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riêng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cho web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thì</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bổ</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sung Web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trước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Chữ</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Web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viết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thường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742950" indent="-742950">
              <a:buAutoNum type="arabicPeriod"/>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thực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mục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đích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của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store</a:t>
            </a:r>
          </a:p>
          <a:p>
            <a:pPr marL="742950" indent="-742950">
              <a:buAutoNum type="arabicPeriod"/>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view.</a:t>
            </a:r>
          </a:p>
          <a:p>
            <a:pPr marL="742950" indent="-742950">
              <a:buAutoNum type="arabicPeriod"/>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Comment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Nội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dung View,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Ngày</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tạo</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người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tạo</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người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cập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nhật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ngày</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cập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nhật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nếu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có</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VD: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View_TS_KhoiTuyenSinh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View_HRM_DanToc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View_Web_TS_KhoiNganhTuyenSinh</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itle 1"/>
          <p:cNvSpPr txBox="1">
            <a:spLocks/>
          </p:cNvSpPr>
          <p:nvPr/>
        </p:nvSpPr>
        <p:spPr>
          <a:xfrm>
            <a:off x="409489" y="105413"/>
            <a:ext cx="11393906" cy="8691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TẠO VÀ CHỈNH SỬA VIEW</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469239061"/>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490" y="974559"/>
            <a:ext cx="11658184" cy="5173578"/>
          </a:xfrm>
        </p:spPr>
        <p:txBody>
          <a:bodyPr>
            <a:normAutofit/>
          </a:bodyPr>
          <a:lstStyle/>
          <a:p>
            <a:pPr>
              <a:buFontTx/>
              <a:buChar char="-"/>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Xem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xét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tính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khả</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và</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cần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thiết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bổ</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sung Store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mới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Cách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đặt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SP_{1}_{2}</a:t>
            </a:r>
          </a:p>
          <a:p>
            <a:pPr marL="742950" indent="-742950">
              <a:buAutoNum type="arabicPeriod"/>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Sub model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hoặc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nhóm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chức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năng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Lưu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ý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các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view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trỏ</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sang DB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khác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thì</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là</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DB,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nếu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View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riêng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cho web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thì</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bổ</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sung Web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trước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{1}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Chữ</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Web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viết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thường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endParaRPr lang="en-US" sz="3600" dirty="0"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itle 1"/>
          <p:cNvSpPr txBox="1">
            <a:spLocks/>
          </p:cNvSpPr>
          <p:nvPr/>
        </p:nvSpPr>
        <p:spPr>
          <a:xfrm>
            <a:off x="409490" y="96254"/>
            <a:ext cx="11393906" cy="6929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TẠO VÀ CHỈNH SỬA STORE, FUNCTION (1)</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22396945"/>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09490" y="96254"/>
            <a:ext cx="11393906" cy="6929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TẠO VÀ CHỈNH SỬA STORE, FUNCTION (2)</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651973" y="1046747"/>
            <a:ext cx="7540154" cy="5367568"/>
          </a:xfrm>
          <a:prstGeom prst="rect">
            <a:avLst/>
          </a:prstGeom>
        </p:spPr>
      </p:pic>
    </p:spTree>
    <p:extLst>
      <p:ext uri="{BB962C8B-B14F-4D97-AF65-F5344CB8AC3E}">
        <p14:creationId xmlns:p14="http://schemas.microsoft.com/office/powerpoint/2010/main" val="2269603592"/>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9490" y="974559"/>
            <a:ext cx="11658184" cy="5763126"/>
          </a:xfrm>
        </p:spPr>
        <p:txBody>
          <a:bodyPr>
            <a:normAutofit/>
          </a:bodyPr>
          <a:lstStyle/>
          <a:p>
            <a:pPr marL="0" indent="0">
              <a:buNone/>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2.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thực</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mục</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đích</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dụng</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của</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store</a:t>
            </a:r>
          </a:p>
          <a:p>
            <a:pPr marL="0" indent="0">
              <a:buNone/>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3.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tên</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Store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trực</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tiếp</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4. Comment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Nội</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dung Store,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Ngày</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tạo</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người</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tạo</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người</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cập</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nhật</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ngày</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cập</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nhật</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nếu</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có</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VD: </a:t>
            </a:r>
            <a:r>
              <a:rPr lang="en-US" sz="3600" dirty="0" err="1">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SP_MG_TinhHinhThucHienMienGiam</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200" dirty="0" err="1">
                <a:solidFill>
                  <a:schemeClr val="bg1"/>
                </a:solidFill>
                <a:latin typeface="Times New Roman" panose="02020603050405020304" pitchFamily="18" charset="0"/>
                <a:cs typeface="Times New Roman" panose="02020603050405020304" pitchFamily="18" charset="0"/>
              </a:rPr>
              <a:t>SP_WEB_DS_DanhSachLopHocPhan</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sz="3600" dirty="0"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itle 1"/>
          <p:cNvSpPr txBox="1">
            <a:spLocks/>
          </p:cNvSpPr>
          <p:nvPr/>
        </p:nvSpPr>
        <p:spPr>
          <a:xfrm>
            <a:off x="409490" y="96254"/>
            <a:ext cx="11393906" cy="6929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TẠO VÀ CHỈNH SỬA STORE, FUNCTION(3)</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225137864"/>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568064048"/>
              </p:ext>
            </p:extLst>
          </p:nvPr>
        </p:nvGraphicFramePr>
        <p:xfrm>
          <a:off x="24478" y="650833"/>
          <a:ext cx="12167521" cy="6207166"/>
        </p:xfrm>
        <a:graphic>
          <a:graphicData uri="http://schemas.openxmlformats.org/drawingml/2006/table">
            <a:tbl>
              <a:tblPr>
                <a:tableStyleId>{5C22544A-7EE6-4342-B048-85BDC9FD1C3A}</a:tableStyleId>
              </a:tblPr>
              <a:tblGrid>
                <a:gridCol w="684805"/>
                <a:gridCol w="6438392"/>
                <a:gridCol w="5044324"/>
              </a:tblGrid>
              <a:tr h="321125">
                <a:tc>
                  <a:txBody>
                    <a:bodyPr/>
                    <a:lstStyle/>
                    <a:p>
                      <a:pPr algn="ctr" fontAlgn="b"/>
                      <a:r>
                        <a:rPr lang="en-US" sz="1800" u="none" strike="noStrike" dirty="0">
                          <a:effectLst/>
                          <a:latin typeface="Times New Roman" panose="02020603050405020304" pitchFamily="18" charset="0"/>
                          <a:cs typeface="Times New Roman" panose="02020603050405020304" pitchFamily="18" charset="0"/>
                        </a:rPr>
                        <a:t>STT</a:t>
                      </a:r>
                      <a:endParaRPr lang="en-US" sz="18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800" u="none" strike="noStrike">
                          <a:effectLst/>
                          <a:latin typeface="Times New Roman" panose="02020603050405020304" pitchFamily="18" charset="0"/>
                          <a:cs typeface="Times New Roman" panose="02020603050405020304" pitchFamily="18" charset="0"/>
                        </a:rPr>
                        <a:t>Nội dung</a:t>
                      </a:r>
                      <a:endParaRPr lang="en-US" sz="18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800" u="none" strike="noStrike">
                          <a:effectLst/>
                          <a:latin typeface="Times New Roman" panose="02020603050405020304" pitchFamily="18" charset="0"/>
                          <a:cs typeface="Times New Roman" panose="02020603050405020304" pitchFamily="18" charset="0"/>
                        </a:rPr>
                        <a:t>Ghi chú</a:t>
                      </a:r>
                      <a:endParaRPr lang="en-US" sz="18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r>
              <a:tr h="432311">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dirty="0">
                          <a:effectLst/>
                          <a:latin typeface="Times New Roman" panose="02020603050405020304" pitchFamily="18" charset="0"/>
                          <a:cs typeface="Times New Roman" panose="02020603050405020304" pitchFamily="18" charset="0"/>
                        </a:rPr>
                        <a:t>Phải comment tên người tạo, chức năng của lệnh truy vấn</a:t>
                      </a:r>
                      <a:endParaRPr lang="vi-V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Thường dùng cho Store, Function</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460840">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2</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a:effectLst/>
                          <a:latin typeface="Times New Roman" panose="02020603050405020304" pitchFamily="18" charset="0"/>
                          <a:cs typeface="Times New Roman" panose="02020603050405020304" pitchFamily="18" charset="0"/>
                        </a:rPr>
                        <a:t>Comment tên người cập nhật, ngày cập nhật, nội dung cập nhật</a:t>
                      </a:r>
                      <a:endParaRPr lang="vi-V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a:effectLst/>
                          <a:latin typeface="Times New Roman" panose="02020603050405020304" pitchFamily="18" charset="0"/>
                          <a:cs typeface="Times New Roman" panose="02020603050405020304" pitchFamily="18" charset="0"/>
                        </a:rPr>
                        <a:t>Đối với các trường hợp thay đổi nghiệp vụ</a:t>
                      </a:r>
                      <a:endParaRPr lang="vi-V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460840">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3</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Không trỏ trực tiếp sang DB Data</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a:effectLst/>
                          <a:latin typeface="Times New Roman" panose="02020603050405020304" pitchFamily="18" charset="0"/>
                          <a:cs typeface="Times New Roman" panose="02020603050405020304" pitchFamily="18" charset="0"/>
                        </a:rPr>
                        <a:t>Các trường hợp sử dụng phải có sự đồng ý của Leader</a:t>
                      </a:r>
                      <a:endParaRPr lang="vi-V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482785">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4</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Luôn luôn sử dụng Alias khi thao tác đến cột dữ liệu</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504730">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5</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Không sử dụng select * trong store, View</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a:effectLst/>
                          <a:latin typeface="Times New Roman" panose="02020603050405020304" pitchFamily="18" charset="0"/>
                          <a:cs typeface="Times New Roman" panose="02020603050405020304" pitchFamily="18" charset="0"/>
                        </a:rPr>
                        <a:t>Trừ trường hợp đã thông qua bảng tạm</a:t>
                      </a:r>
                      <a:endParaRPr lang="vi-V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404920">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6</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dirty="0">
                          <a:effectLst/>
                          <a:latin typeface="Times New Roman" panose="02020603050405020304" pitchFamily="18" charset="0"/>
                          <a:cs typeface="Times New Roman" panose="02020603050405020304" pitchFamily="18" charset="0"/>
                        </a:rPr>
                        <a:t>Phải gán kiểu dữ liệu xác định trong trường hợp lấy các cột không có dữ liệu</a:t>
                      </a:r>
                      <a:endParaRPr lang="vi-V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Không nên:</a:t>
                      </a:r>
                      <a:br>
                        <a:rPr lang="en-US" sz="1800" u="none" strike="noStrike">
                          <a:effectLst/>
                          <a:latin typeface="Times New Roman" panose="02020603050405020304" pitchFamily="18" charset="0"/>
                          <a:cs typeface="Times New Roman" panose="02020603050405020304" pitchFamily="18" charset="0"/>
                        </a:rPr>
                      </a:br>
                      <a:r>
                        <a:rPr lang="en-US" sz="1800" u="none" strike="noStrike">
                          <a:effectLst/>
                          <a:latin typeface="Times New Roman" panose="02020603050405020304" pitchFamily="18" charset="0"/>
                          <a:cs typeface="Times New Roman" panose="02020603050405020304" pitchFamily="18" charset="0"/>
                        </a:rPr>
                        <a:t>Cot1 = null</a:t>
                      </a:r>
                      <a:br>
                        <a:rPr lang="en-US" sz="1800" u="none" strike="noStrike">
                          <a:effectLst/>
                          <a:latin typeface="Times New Roman" panose="02020603050405020304" pitchFamily="18" charset="0"/>
                          <a:cs typeface="Times New Roman" panose="02020603050405020304" pitchFamily="18" charset="0"/>
                        </a:rPr>
                      </a:br>
                      <a:r>
                        <a:rPr lang="en-US" sz="1800" u="none" strike="noStrike">
                          <a:effectLst/>
                          <a:latin typeface="Times New Roman" panose="02020603050405020304" pitchFamily="18" charset="0"/>
                          <a:cs typeface="Times New Roman" panose="02020603050405020304" pitchFamily="18" charset="0"/>
                        </a:rPr>
                        <a:t>Nên</a:t>
                      </a:r>
                      <a:br>
                        <a:rPr lang="en-US" sz="1800" u="none" strike="noStrike">
                          <a:effectLst/>
                          <a:latin typeface="Times New Roman" panose="02020603050405020304" pitchFamily="18" charset="0"/>
                          <a:cs typeface="Times New Roman" panose="02020603050405020304" pitchFamily="18" charset="0"/>
                        </a:rPr>
                      </a:br>
                      <a:r>
                        <a:rPr lang="en-US" sz="1800" u="none" strike="noStrike">
                          <a:effectLst/>
                          <a:latin typeface="Times New Roman" panose="02020603050405020304" pitchFamily="18" charset="0"/>
                          <a:cs typeface="Times New Roman" panose="02020603050405020304" pitchFamily="18" charset="0"/>
                        </a:rPr>
                        <a:t>Cot1 = CAST(null as decimal(5,2))</a:t>
                      </a:r>
                      <a:br>
                        <a:rPr lang="en-US" sz="1800" u="none" strike="noStrike">
                          <a:effectLst/>
                          <a:latin typeface="Times New Roman" panose="02020603050405020304" pitchFamily="18" charset="0"/>
                          <a:cs typeface="Times New Roman" panose="02020603050405020304" pitchFamily="18" charset="0"/>
                        </a:rPr>
                      </a:b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713205">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7</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Các bảng có cột ngày sinh 2 (NgaySinh2) thì sử dụng ngày sinh 2</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VD: DT_SinhVien</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713205">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8</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1800" u="none" strike="noStrike">
                          <a:effectLst/>
                          <a:latin typeface="Times New Roman" panose="02020603050405020304" pitchFamily="18" charset="0"/>
                          <a:cs typeface="Times New Roman" panose="02020603050405020304" pitchFamily="18" charset="0"/>
                        </a:rPr>
                        <a:t>Đặt tên Store, View, Function phải theo Refix tương ứng, nếu viết cho Modules thì đặt theo quy định modules</a:t>
                      </a:r>
                      <a:endParaRPr lang="vi-V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SP_DS..., SP_DT..., Fn_KTX....</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713205">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9</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pl-PL" sz="1800" u="none" strike="noStrike" dirty="0">
                          <a:effectLst/>
                          <a:latin typeface="Times New Roman" panose="02020603050405020304" pitchFamily="18" charset="0"/>
                          <a:cs typeface="Times New Roman" panose="02020603050405020304" pitchFamily="18" charset="0"/>
                        </a:rPr>
                        <a:t>EDU: Nam =0; Nữ =1</a:t>
                      </a:r>
                      <a:br>
                        <a:rPr lang="pl-PL" sz="1800" u="none" strike="noStrike" dirty="0">
                          <a:effectLst/>
                          <a:latin typeface="Times New Roman" panose="02020603050405020304" pitchFamily="18" charset="0"/>
                          <a:cs typeface="Times New Roman" panose="02020603050405020304" pitchFamily="18" charset="0"/>
                        </a:rPr>
                      </a:br>
                      <a:r>
                        <a:rPr lang="pl-PL" sz="1800" u="none" strike="noStrike" dirty="0">
                          <a:effectLst/>
                          <a:latin typeface="Times New Roman" panose="02020603050405020304" pitchFamily="18" charset="0"/>
                          <a:cs typeface="Times New Roman" panose="02020603050405020304" pitchFamily="18" charset="0"/>
                        </a:rPr>
                        <a:t>HRM: Nam=1; Nữ =0</a:t>
                      </a:r>
                      <a:endParaRPr lang="pl-PL"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dirty="0">
                          <a:effectLst/>
                          <a:latin typeface="Times New Roman" panose="02020603050405020304" pitchFamily="18" charset="0"/>
                          <a:cs typeface="Times New Roman" panose="02020603050405020304" pitchFamily="18" charset="0"/>
                        </a:rPr>
                        <a:t> </a:t>
                      </a:r>
                      <a:endParaRPr lang="en-US"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bl>
          </a:graphicData>
        </a:graphic>
      </p:graphicFrame>
      <p:sp>
        <p:nvSpPr>
          <p:cNvPr id="5" name="Title 1"/>
          <p:cNvSpPr txBox="1">
            <a:spLocks/>
          </p:cNvSpPr>
          <p:nvPr/>
        </p:nvSpPr>
        <p:spPr>
          <a:xfrm>
            <a:off x="409490" y="0"/>
            <a:ext cx="11393906" cy="6929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TẠO VÀ CHỈNH SỬA STORE, FUNCTION(4)</a:t>
            </a:r>
            <a:endParaRPr lang="en-US" b="1"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930022505"/>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37255"/>
            <a:ext cx="9905998" cy="1198250"/>
          </a:xfrm>
        </p:spPr>
        <p:txBody>
          <a:bodyPr>
            <a:normAutofit/>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CÁC TOOL HỖ TRỢ SQL</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141412" y="1552074"/>
            <a:ext cx="9905999" cy="4239127"/>
          </a:xfrm>
        </p:spPr>
        <p:txBody>
          <a:bodyPr>
            <a:normAutofit/>
          </a:bodyPr>
          <a:lstStyle/>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SQL Managed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ment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2016</a:t>
            </a:r>
          </a:p>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SQL Prompt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Hỗ</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trợ</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viết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script)</a:t>
            </a:r>
          </a:p>
          <a:p>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SQL Profiler </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Standalone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hỗ</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trợ</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kiểm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thực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thi SQL)</a:t>
            </a:r>
          </a:p>
        </p:txBody>
      </p:sp>
    </p:spTree>
    <p:extLst>
      <p:ext uri="{BB962C8B-B14F-4D97-AF65-F5344CB8AC3E}">
        <p14:creationId xmlns:p14="http://schemas.microsoft.com/office/powerpoint/2010/main" val="3805011582"/>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37255"/>
            <a:ext cx="9905998" cy="1198250"/>
          </a:xfrm>
        </p:spPr>
        <p:txBody>
          <a:bodyPr>
            <a:normAutofit/>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THÔNG TIN DATABASE (1)</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56412" y="962526"/>
            <a:ext cx="12035588" cy="5811253"/>
          </a:xfrm>
        </p:spPr>
        <p:txBody>
          <a:bodyPr>
            <a:normAutofit/>
          </a:bodyPr>
          <a:lstStyle/>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DB ORG: 192.168.0.6</a:t>
            </a:r>
          </a:p>
          <a:p>
            <a:pPr marL="0" indent="0">
              <a:buNone/>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User:  </a:t>
            </a:r>
            <a:r>
              <a:rPr lang="en-US" sz="3600" dirty="0" err="1" smtClean="0">
                <a:solidFill>
                  <a:schemeClr val="bg1"/>
                </a:solidFill>
                <a:latin typeface="Times New Roman" panose="02020603050405020304" pitchFamily="18" charset="0"/>
                <a:cs typeface="Times New Roman" panose="02020603050405020304" pitchFamily="18" charset="0"/>
              </a:rPr>
              <a:t>pmt</a:t>
            </a:r>
            <a:r>
              <a:rPr lang="en-US" sz="3600" dirty="0" smtClean="0">
                <a:solidFill>
                  <a:schemeClr val="bg1"/>
                </a:solidFill>
                <a:latin typeface="Times New Roman" panose="02020603050405020304" pitchFamily="18" charset="0"/>
                <a:cs typeface="Times New Roman" panose="02020603050405020304" pitchFamily="18" charset="0"/>
              </a:rPr>
              <a:t>-ems   	Password: pmt</a:t>
            </a:r>
            <a:r>
              <a:rPr lang="en-US" sz="3600" dirty="0">
                <a:solidFill>
                  <a:schemeClr val="bg1"/>
                </a:solidFill>
                <a:latin typeface="Times New Roman" panose="02020603050405020304" pitchFamily="18" charset="0"/>
                <a:cs typeface="Times New Roman" panose="02020603050405020304" pitchFamily="18" charset="0"/>
              </a:rPr>
              <a:t>_@ms2015</a:t>
            </a:r>
            <a:endParaRPr lang="en-US" sz="3600" dirty="0" smtClean="0">
              <a:solidFill>
                <a:schemeClr val="bg1"/>
              </a:solidFill>
              <a:latin typeface="Times New Roman" panose="02020603050405020304" pitchFamily="18" charset="0"/>
              <a:ea typeface="Tahoma" panose="020B0604030504040204" pitchFamily="34" charset="0"/>
              <a:cs typeface="Times New Roman" panose="02020603050405020304" pitchFamily="18" charset="0"/>
            </a:endParaRP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Tất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cả</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các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thay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đổi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bổ</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sung,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chỉnh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sửa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nếu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thực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hiện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xong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thì</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cấu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trúc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DB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trên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0.6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là</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cấu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trúc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đúng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nhất</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Update model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và</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r</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elease qua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khách</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hàng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a:t>
            </a:r>
          </a:p>
          <a:p>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Không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tự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ý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sửa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cấu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trúc</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bảng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trong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DB ORG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nếu</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không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có</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sự</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chấp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nhận</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từ</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cấp</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độ</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Lead.</a:t>
            </a:r>
          </a:p>
        </p:txBody>
      </p:sp>
    </p:spTree>
    <p:extLst>
      <p:ext uri="{BB962C8B-B14F-4D97-AF65-F5344CB8AC3E}">
        <p14:creationId xmlns:p14="http://schemas.microsoft.com/office/powerpoint/2010/main" val="1123727615"/>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37255"/>
            <a:ext cx="9905998" cy="1198250"/>
          </a:xfrm>
        </p:spPr>
        <p:txBody>
          <a:bodyPr>
            <a:normAutofit/>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THÔNG TIN DATABASE (2)</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56412" y="962526"/>
            <a:ext cx="12035588" cy="5811253"/>
          </a:xfrm>
        </p:spPr>
        <p:txBody>
          <a:bodyPr>
            <a:normAutofit/>
          </a:bodyPr>
          <a:lstStyle/>
          <a:p>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DB Test,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kiểm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tra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dữ</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liệu</a:t>
            </a: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user: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sa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Pass: AuLac07</a:t>
            </a:r>
          </a:p>
          <a:p>
            <a:pPr marL="0" indent="0">
              <a:buNone/>
            </a:pP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- 192.168.0.14</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endParaRPr>
          </a:p>
          <a:p>
            <a:pPr>
              <a:buFontTx/>
              <a:buChar char="-"/>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192.168.0.21\SQL2008</a:t>
            </a:r>
          </a:p>
          <a:p>
            <a:pPr>
              <a:buFontTx/>
              <a:buChar char="-"/>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192.168.0.21\SQL2012</a:t>
            </a:r>
          </a:p>
          <a:p>
            <a:pPr>
              <a:buFontTx/>
              <a:buChar char="-"/>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192.168.0.21\SQL2014</a:t>
            </a:r>
          </a:p>
          <a:p>
            <a:pPr>
              <a:buFontTx/>
              <a:buChar char="-"/>
            </a:pP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192.168.0.21\SQL2016</a:t>
            </a:r>
          </a:p>
          <a:p>
            <a:pPr>
              <a:buFontTx/>
              <a:buChar char="-"/>
            </a:pPr>
            <a:r>
              <a:rPr lang="en-US" sz="3600" dirty="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rPr>
              <a:t>192.168.0.13\SQL2014</a:t>
            </a: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sym typeface="Wingdings" panose="05000000000000000000" pitchFamily="2" charset="2"/>
            </a:endParaRPr>
          </a:p>
          <a:p>
            <a:pPr>
              <a:buFontTx/>
              <a:buChar char="-"/>
            </a:pPr>
            <a:endPar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348162943"/>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37255"/>
            <a:ext cx="9905998" cy="1198250"/>
          </a:xfrm>
        </p:spPr>
        <p:txBody>
          <a:bodyPr>
            <a:normAutofit/>
          </a:bodyPr>
          <a:lstStyle/>
          <a:p>
            <a:pPr algn="ct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THÔNG TIN DATABASE (3)</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ontent Placeholder 2"/>
          <p:cNvSpPr>
            <a:spLocks noGrp="1"/>
          </p:cNvSpPr>
          <p:nvPr>
            <p:ph idx="1"/>
          </p:nvPr>
        </p:nvSpPr>
        <p:spPr>
          <a:xfrm>
            <a:off x="156412" y="962526"/>
            <a:ext cx="12035588" cy="5811253"/>
          </a:xfrm>
        </p:spPr>
        <p:txBody>
          <a:bodyPr>
            <a:normAutofit/>
          </a:bodyPr>
          <a:lstStyle/>
          <a:p>
            <a:pPr>
              <a:buFontTx/>
              <a:buChar char="-"/>
            </a:pP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Kiểm</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tra</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thông</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tin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kết</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a:t>
            </a:r>
            <a:r>
              <a:rPr lang="en-US" sz="3600" dirty="0" err="1"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nối</a:t>
            </a:r>
            <a:r>
              <a:rPr lang="en-US" sz="3600" dirty="0" smtClean="0">
                <a:solidFill>
                  <a:schemeClr val="bg1">
                    <a:lumMod val="75000"/>
                    <a:lumOff val="25000"/>
                  </a:schemeClr>
                </a:solidFill>
                <a:latin typeface="Times New Roman" panose="02020603050405020304" pitchFamily="18" charset="0"/>
                <a:ea typeface="Tahoma" panose="020B0604030504040204" pitchFamily="34" charset="0"/>
                <a:cs typeface="Times New Roman" panose="02020603050405020304" pitchFamily="18" charset="0"/>
              </a:rPr>
              <a:t> DB TEST</a:t>
            </a:r>
          </a:p>
        </p:txBody>
      </p:sp>
      <p:pic>
        <p:nvPicPr>
          <p:cNvPr id="4" name="Picture 3"/>
          <p:cNvPicPr>
            <a:picLocks noChangeAspect="1"/>
          </p:cNvPicPr>
          <p:nvPr/>
        </p:nvPicPr>
        <p:blipFill>
          <a:blip r:embed="rId2"/>
          <a:stretch>
            <a:fillRect/>
          </a:stretch>
        </p:blipFill>
        <p:spPr>
          <a:xfrm>
            <a:off x="-5589" y="1543714"/>
            <a:ext cx="12200000" cy="5314286"/>
          </a:xfrm>
          <a:prstGeom prst="rect">
            <a:avLst/>
          </a:prstGeom>
        </p:spPr>
      </p:pic>
    </p:spTree>
    <p:extLst>
      <p:ext uri="{BB962C8B-B14F-4D97-AF65-F5344CB8AC3E}">
        <p14:creationId xmlns:p14="http://schemas.microsoft.com/office/powerpoint/2010/main" val="4269943731"/>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7458" y="293665"/>
            <a:ext cx="11393906" cy="1478570"/>
          </a:xfrm>
        </p:spPr>
        <p:txBody>
          <a:bodyPr/>
          <a:lstStyle/>
          <a:p>
            <a:pPr algn="ctr"/>
            <a:r>
              <a:rPr lang="en-US" sz="4000" dirty="0" smtClean="0">
                <a:solidFill>
                  <a:srgbClr val="005AAB"/>
                </a:solidFill>
                <a:latin typeface="Tahoma" panose="020B0604030504040204" pitchFamily="34" charset="0"/>
                <a:ea typeface="Tahoma" panose="020B0604030504040204" pitchFamily="34" charset="0"/>
                <a:cs typeface="Tahoma" panose="020B0604030504040204" pitchFamily="34" charset="0"/>
              </a:rPr>
              <a:t>QUY ĐỊNH code c#</a:t>
            </a:r>
            <a:endParaRPr lang="en-US" b="1" dirty="0">
              <a:solidFill>
                <a:srgbClr val="005AAB"/>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1515980" y="1431758"/>
            <a:ext cx="10676020" cy="5342021"/>
          </a:xfrm>
        </p:spPr>
        <p:txBody>
          <a:bodyPr>
            <a:normAutofit/>
          </a:bodyPr>
          <a:lstStyle/>
          <a:p>
            <a:r>
              <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Forms : Theo </a:t>
            </a:r>
            <a:r>
              <a:rPr lang="en-US" sz="3600" dirty="0" err="1"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bảng</a:t>
            </a:r>
            <a:r>
              <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 </a:t>
            </a:r>
            <a:r>
              <a:rPr lang="en-US" sz="3600" dirty="0" err="1"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quy</a:t>
            </a:r>
            <a:r>
              <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 </a:t>
            </a:r>
            <a:r>
              <a:rPr lang="en-US" sz="3600" dirty="0" err="1"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định</a:t>
            </a:r>
            <a:r>
              <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 model</a:t>
            </a:r>
          </a:p>
          <a:p>
            <a:r>
              <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Class: </a:t>
            </a:r>
          </a:p>
          <a:p>
            <a:r>
              <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Models</a:t>
            </a:r>
          </a:p>
        </p:txBody>
      </p:sp>
    </p:spTree>
    <p:extLst>
      <p:ext uri="{BB962C8B-B14F-4D97-AF65-F5344CB8AC3E}">
        <p14:creationId xmlns:p14="http://schemas.microsoft.com/office/powerpoint/2010/main" val="451831588"/>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2971" y="113191"/>
            <a:ext cx="9905998" cy="1478570"/>
          </a:xfrm>
        </p:spPr>
        <p:txBody>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1. QUY ĐỊNH VỀ KẾ THỪA FORM</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79115221"/>
              </p:ext>
            </p:extLst>
          </p:nvPr>
        </p:nvGraphicFramePr>
        <p:xfrm>
          <a:off x="252663" y="1371600"/>
          <a:ext cx="11718757" cy="5245767"/>
        </p:xfrm>
        <a:graphic>
          <a:graphicData uri="http://schemas.openxmlformats.org/drawingml/2006/table">
            <a:tbl>
              <a:tblPr>
                <a:tableStyleId>{5C22544A-7EE6-4342-B048-85BDC9FD1C3A}</a:tableStyleId>
              </a:tblPr>
              <a:tblGrid>
                <a:gridCol w="477447"/>
                <a:gridCol w="2304341"/>
                <a:gridCol w="2197299"/>
                <a:gridCol w="4209626"/>
                <a:gridCol w="2530044"/>
              </a:tblGrid>
              <a:tr h="453861">
                <a:tc>
                  <a:txBody>
                    <a:bodyPr/>
                    <a:lstStyle/>
                    <a:p>
                      <a:pPr algn="ctr" fontAlgn="b"/>
                      <a:r>
                        <a:rPr lang="en-US" sz="1600" b="1" u="none" strike="noStrike" dirty="0">
                          <a:effectLst/>
                          <a:latin typeface="Times New Roman" panose="02020603050405020304" pitchFamily="18" charset="0"/>
                          <a:cs typeface="Times New Roman" panose="02020603050405020304" pitchFamily="18" charset="0"/>
                        </a:rPr>
                        <a:t>STT</a:t>
                      </a:r>
                      <a:endParaRPr lang="en-US" sz="16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600" b="1" u="none" strike="noStrike" dirty="0" err="1">
                          <a:effectLst/>
                          <a:latin typeface="Times New Roman" panose="02020603050405020304" pitchFamily="18" charset="0"/>
                          <a:cs typeface="Times New Roman" panose="02020603050405020304" pitchFamily="18" charset="0"/>
                        </a:rPr>
                        <a:t>FormBase</a:t>
                      </a:r>
                      <a:endParaRPr lang="en-US" sz="16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600" b="1" u="none" strike="noStrike" dirty="0" err="1">
                          <a:effectLst/>
                          <a:latin typeface="Times New Roman" panose="02020603050405020304" pitchFamily="18" charset="0"/>
                          <a:cs typeface="Times New Roman" panose="02020603050405020304" pitchFamily="18" charset="0"/>
                        </a:rPr>
                        <a:t>Nghiệp</a:t>
                      </a:r>
                      <a:r>
                        <a:rPr lang="en-US" sz="1600" b="1" u="none" strike="noStrike" dirty="0">
                          <a:effectLst/>
                          <a:latin typeface="Times New Roman" panose="02020603050405020304" pitchFamily="18" charset="0"/>
                          <a:cs typeface="Times New Roman" panose="02020603050405020304" pitchFamily="18" charset="0"/>
                        </a:rPr>
                        <a:t> </a:t>
                      </a:r>
                      <a:r>
                        <a:rPr lang="en-US" sz="1600" b="1" u="none" strike="noStrike" dirty="0" err="1">
                          <a:effectLst/>
                          <a:latin typeface="Times New Roman" panose="02020603050405020304" pitchFamily="18" charset="0"/>
                          <a:cs typeface="Times New Roman" panose="02020603050405020304" pitchFamily="18" charset="0"/>
                        </a:rPr>
                        <a:t>vụ</a:t>
                      </a:r>
                      <a:r>
                        <a:rPr lang="en-US" sz="1600" b="1" u="none" strike="noStrike" dirty="0">
                          <a:effectLst/>
                          <a:latin typeface="Times New Roman" panose="02020603050405020304" pitchFamily="18" charset="0"/>
                          <a:cs typeface="Times New Roman" panose="02020603050405020304" pitchFamily="18" charset="0"/>
                        </a:rPr>
                        <a:t> </a:t>
                      </a:r>
                      <a:r>
                        <a:rPr lang="en-US" sz="1600" b="1" u="none" strike="noStrike" dirty="0" err="1">
                          <a:effectLst/>
                          <a:latin typeface="Times New Roman" panose="02020603050405020304" pitchFamily="18" charset="0"/>
                          <a:cs typeface="Times New Roman" panose="02020603050405020304" pitchFamily="18" charset="0"/>
                        </a:rPr>
                        <a:t>chính</a:t>
                      </a:r>
                      <a:endParaRPr lang="en-US" sz="16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600" b="1" u="none" strike="noStrike" dirty="0" err="1">
                          <a:effectLst/>
                          <a:latin typeface="Times New Roman" panose="02020603050405020304" pitchFamily="18" charset="0"/>
                          <a:cs typeface="Times New Roman" panose="02020603050405020304" pitchFamily="18" charset="0"/>
                        </a:rPr>
                        <a:t>Ghi</a:t>
                      </a:r>
                      <a:r>
                        <a:rPr lang="en-US" sz="1600" b="1" u="none" strike="noStrike" dirty="0">
                          <a:effectLst/>
                          <a:latin typeface="Times New Roman" panose="02020603050405020304" pitchFamily="18" charset="0"/>
                          <a:cs typeface="Times New Roman" panose="02020603050405020304" pitchFamily="18" charset="0"/>
                        </a:rPr>
                        <a:t> </a:t>
                      </a:r>
                      <a:r>
                        <a:rPr lang="en-US" sz="1600" b="1" u="none" strike="noStrike" dirty="0" err="1">
                          <a:effectLst/>
                          <a:latin typeface="Times New Roman" panose="02020603050405020304" pitchFamily="18" charset="0"/>
                          <a:cs typeface="Times New Roman" panose="02020603050405020304" pitchFamily="18" charset="0"/>
                        </a:rPr>
                        <a:t>chú</a:t>
                      </a:r>
                      <a:endParaRPr lang="en-US" sz="16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600" b="1" u="none" strike="noStrike" dirty="0" err="1">
                          <a:effectLst/>
                          <a:latin typeface="Times New Roman" panose="02020603050405020304" pitchFamily="18" charset="0"/>
                          <a:cs typeface="Times New Roman" panose="02020603050405020304" pitchFamily="18" charset="0"/>
                        </a:rPr>
                        <a:t>Ghi</a:t>
                      </a:r>
                      <a:r>
                        <a:rPr lang="en-US" sz="1600" b="1" u="none" strike="noStrike" dirty="0">
                          <a:effectLst/>
                          <a:latin typeface="Times New Roman" panose="02020603050405020304" pitchFamily="18" charset="0"/>
                          <a:cs typeface="Times New Roman" panose="02020603050405020304" pitchFamily="18" charset="0"/>
                        </a:rPr>
                        <a:t> </a:t>
                      </a:r>
                      <a:r>
                        <a:rPr lang="en-US" sz="1600" b="1" u="none" strike="noStrike" dirty="0" err="1">
                          <a:effectLst/>
                          <a:latin typeface="Times New Roman" panose="02020603050405020304" pitchFamily="18" charset="0"/>
                          <a:cs typeface="Times New Roman" panose="02020603050405020304" pitchFamily="18" charset="0"/>
                        </a:rPr>
                        <a:t>chú</a:t>
                      </a:r>
                      <a:endParaRPr lang="en-US" sz="16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r>
              <a:tr h="116308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1</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FormBase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gridSpan="2">
                  <a:txBody>
                    <a:bodyPr/>
                    <a:lstStyle/>
                    <a:p>
                      <a:pPr algn="l" fontAlgn="ctr"/>
                      <a:r>
                        <a:rPr lang="vi-VN" sz="1800" u="none" strike="noStrike" dirty="0">
                          <a:effectLst/>
                          <a:latin typeface="Times New Roman" panose="02020603050405020304" pitchFamily="18" charset="0"/>
                          <a:cs typeface="Times New Roman" panose="02020603050405020304" pitchFamily="18" charset="0"/>
                        </a:rPr>
                        <a:t>Dùng cho các Form không thao tác đến dữ liệu(Thêm, Xóa, Sửa)</a:t>
                      </a:r>
                      <a:br>
                        <a:rPr lang="vi-VN" sz="1800" u="none" strike="noStrike" dirty="0">
                          <a:effectLst/>
                          <a:latin typeface="Times New Roman" panose="02020603050405020304" pitchFamily="18" charset="0"/>
                          <a:cs typeface="Times New Roman" panose="02020603050405020304" pitchFamily="18" charset="0"/>
                        </a:rPr>
                      </a:br>
                      <a:r>
                        <a:rPr lang="vi-VN" sz="1800" u="none" strike="noStrike" dirty="0">
                          <a:effectLst/>
                          <a:latin typeface="Times New Roman" panose="02020603050405020304" pitchFamily="18" charset="0"/>
                          <a:cs typeface="Times New Roman" panose="02020603050405020304" pitchFamily="18" charset="0"/>
                        </a:rPr>
                        <a:t>Chỉ hiển thị thông tin trên một số control Lable, Textbox hoặc thống báo đơn giản</a:t>
                      </a:r>
                      <a:endParaRPr lang="vi-V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US"/>
                    </a:p>
                  </a:txBody>
                  <a:tcPr/>
                </a:tc>
                <a:tc>
                  <a:txBody>
                    <a:bodyPr/>
                    <a:lstStyle/>
                    <a:p>
                      <a:pPr algn="l" fontAlgn="ctr"/>
                      <a:r>
                        <a:rPr lang="en-US" sz="1200" u="none" strike="noStrike">
                          <a:effectLst/>
                        </a:rPr>
                        <a:t> </a:t>
                      </a:r>
                      <a:endParaRPr lang="en-US" sz="1200" b="0" i="0" u="none" strike="noStrike">
                        <a:solidFill>
                          <a:srgbClr val="000000"/>
                        </a:solidFill>
                        <a:effectLst/>
                        <a:latin typeface="Cambria" panose="02040503050406030204" pitchFamily="18" charset="0"/>
                      </a:endParaRPr>
                    </a:p>
                  </a:txBody>
                  <a:tcPr marL="9525" marR="9525" marT="9525" marB="0" anchor="ctr"/>
                </a:tc>
              </a:tr>
              <a:tr h="651327">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2</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BindingSourceBase</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gridSpan="2">
                  <a:txBody>
                    <a:bodyPr/>
                    <a:lstStyle/>
                    <a:p>
                      <a:pPr algn="l" fontAlgn="ctr"/>
                      <a:r>
                        <a:rPr lang="vi-VN" sz="1800" u="none" strike="noStrike">
                          <a:effectLst/>
                          <a:latin typeface="Times New Roman" panose="02020603050405020304" pitchFamily="18" charset="0"/>
                          <a:cs typeface="Times New Roman" panose="02020603050405020304" pitchFamily="18" charset="0"/>
                        </a:rPr>
                        <a:t>Dùng cho Form có binding dữ liệu, thao tác đơn giản</a:t>
                      </a:r>
                      <a:endParaRPr lang="vi-VN"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US"/>
                    </a:p>
                  </a:txBody>
                  <a:tcPr/>
                </a:tc>
                <a:tc>
                  <a:txBody>
                    <a:bodyPr/>
                    <a:lstStyle/>
                    <a:p>
                      <a:pPr algn="l" fontAlgn="ctr"/>
                      <a:r>
                        <a:rPr lang="en-US" sz="1200" u="none" strike="noStrike">
                          <a:effectLst/>
                        </a:rPr>
                        <a:t> </a:t>
                      </a:r>
                      <a:endParaRPr lang="en-US" sz="1200" b="0" i="0" u="none" strike="noStrike">
                        <a:solidFill>
                          <a:srgbClr val="000000"/>
                        </a:solidFill>
                        <a:effectLst/>
                        <a:latin typeface="Cambria" panose="02040503050406030204" pitchFamily="18" charset="0"/>
                      </a:endParaRPr>
                    </a:p>
                  </a:txBody>
                  <a:tcPr marL="9525" marR="9525" marT="9525" marB="0" anchor="ctr"/>
                </a:tc>
              </a:tr>
              <a:tr h="744374">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3</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DialogBaseForm</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gridSpan="2">
                  <a:txBody>
                    <a:bodyPr/>
                    <a:lstStyle/>
                    <a:p>
                      <a:pPr algn="l" fontAlgn="ctr"/>
                      <a:r>
                        <a:rPr lang="en-US" sz="1800" u="none" strike="noStrike">
                          <a:effectLst/>
                          <a:latin typeface="Times New Roman" panose="02020603050405020304" pitchFamily="18" charset="0"/>
                          <a:cs typeface="Times New Roman" panose="02020603050405020304" pitchFamily="18" charset="0"/>
                        </a:rPr>
                        <a:t>Dùng cho các Form Popup Thêm dữ liệu hoặc có thiết kế nhiều control phức tạp</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US"/>
                    </a:p>
                  </a:txBody>
                  <a:tcPr/>
                </a:tc>
                <a:tc>
                  <a:txBody>
                    <a:bodyPr/>
                    <a:lstStyle/>
                    <a:p>
                      <a:pPr algn="l" fontAlgn="ctr"/>
                      <a:r>
                        <a:rPr lang="en-US" sz="1200" u="none" strike="noStrike">
                          <a:effectLst/>
                        </a:rPr>
                        <a:t> </a:t>
                      </a:r>
                      <a:endParaRPr lang="en-US" sz="1200" b="0" i="0" u="none" strike="noStrike">
                        <a:solidFill>
                          <a:srgbClr val="000000"/>
                        </a:solidFill>
                        <a:effectLst/>
                        <a:latin typeface="Cambria" panose="02040503050406030204" pitchFamily="18" charset="0"/>
                      </a:endParaRPr>
                    </a:p>
                  </a:txBody>
                  <a:tcPr marL="9525" marR="9525" marT="9525" marB="0" anchor="ctr"/>
                </a:tc>
              </a:tr>
              <a:tr h="914959">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4</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SearchBaseForm</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gridSpan="2">
                  <a:txBody>
                    <a:bodyPr/>
                    <a:lstStyle/>
                    <a:p>
                      <a:pPr algn="l" fontAlgn="ctr"/>
                      <a:r>
                        <a:rPr lang="vi-VN" sz="1800" u="none" strike="noStrike" dirty="0">
                          <a:effectLst/>
                          <a:latin typeface="Times New Roman" panose="02020603050405020304" pitchFamily="18" charset="0"/>
                          <a:cs typeface="Times New Roman" panose="02020603050405020304" pitchFamily="18" charset="0"/>
                        </a:rPr>
                        <a:t>Dùng cho màn hình chỉ báo cáo, có điều kiện lọc, dữ liệu hiển thị dạng lưới</a:t>
                      </a:r>
                      <a:endParaRPr lang="vi-V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US"/>
                    </a:p>
                  </a:txBody>
                  <a:tcPr/>
                </a:tc>
                <a:tc>
                  <a:txBody>
                    <a:bodyPr/>
                    <a:lstStyle/>
                    <a:p>
                      <a:pPr algn="l" fontAlgn="ctr"/>
                      <a:r>
                        <a:rPr lang="en-US" sz="1200" u="none" strike="noStrike">
                          <a:effectLst/>
                        </a:rPr>
                        <a:t> </a:t>
                      </a:r>
                      <a:endParaRPr lang="en-US" sz="1200" b="0" i="0" u="none" strike="noStrike">
                        <a:solidFill>
                          <a:srgbClr val="000000"/>
                        </a:solidFill>
                        <a:effectLst/>
                        <a:latin typeface="Cambria" panose="02040503050406030204" pitchFamily="18" charset="0"/>
                      </a:endParaRPr>
                    </a:p>
                  </a:txBody>
                  <a:tcPr marL="9525" marR="9525" marT="9525" marB="0" anchor="ctr"/>
                </a:tc>
              </a:tr>
              <a:tr h="1318162">
                <a:tc>
                  <a:txBody>
                    <a:bodyPr/>
                    <a:lstStyle/>
                    <a:p>
                      <a:pPr algn="ctr" fontAlgn="ctr"/>
                      <a:r>
                        <a:rPr lang="en-US" sz="1800" u="none" strike="noStrike">
                          <a:effectLst/>
                          <a:latin typeface="Times New Roman" panose="02020603050405020304" pitchFamily="18" charset="0"/>
                          <a:cs typeface="Times New Roman" panose="02020603050405020304" pitchFamily="18" charset="0"/>
                        </a:rPr>
                        <a:t>5</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1800" u="none" strike="noStrike">
                          <a:effectLst/>
                          <a:latin typeface="Times New Roman" panose="02020603050405020304" pitchFamily="18" charset="0"/>
                          <a:cs typeface="Times New Roman" panose="02020603050405020304" pitchFamily="18" charset="0"/>
                        </a:rPr>
                        <a:t>SearchGridBaseForm</a:t>
                      </a:r>
                      <a:endParaRPr lang="en-US" sz="18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gridSpan="2">
                  <a:txBody>
                    <a:bodyPr/>
                    <a:lstStyle/>
                    <a:p>
                      <a:pPr algn="l" fontAlgn="ctr"/>
                      <a:r>
                        <a:rPr lang="vi-VN" sz="1800" u="none" strike="noStrike" dirty="0">
                          <a:effectLst/>
                          <a:latin typeface="Times New Roman" panose="02020603050405020304" pitchFamily="18" charset="0"/>
                          <a:cs typeface="Times New Roman" panose="02020603050405020304" pitchFamily="18" charset="0"/>
                        </a:rPr>
                        <a:t>Dùng cho màn hình Quản lý hoặc Báo cáo có thao tác dữ liệu hoặc xử lý các chức năng khác, có điều kiện lọc, dữ liệu hiển thị dạng lưới, cho phép chỉnh sửa trên lưới</a:t>
                      </a:r>
                      <a:endParaRPr lang="vi-VN" sz="1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hMerge="1">
                  <a:txBody>
                    <a:bodyPr/>
                    <a:lstStyle/>
                    <a:p>
                      <a:endParaRPr lang="en-US"/>
                    </a:p>
                  </a:txBody>
                  <a:tcPr/>
                </a:tc>
                <a:tc>
                  <a:txBody>
                    <a:bodyPr/>
                    <a:lstStyle/>
                    <a:p>
                      <a:pPr algn="l" fontAlgn="ctr"/>
                      <a:r>
                        <a:rPr lang="en-US" sz="1200" u="none" strike="noStrike" dirty="0">
                          <a:effectLst/>
                        </a:rPr>
                        <a:t> </a:t>
                      </a:r>
                      <a:endParaRPr lang="en-US" sz="1200" b="0" i="0" u="none" strike="noStrike" dirty="0">
                        <a:solidFill>
                          <a:srgbClr val="000000"/>
                        </a:solidFill>
                        <a:effectLst/>
                        <a:latin typeface="Cambria" panose="02040503050406030204" pitchFamily="18" charset="0"/>
                      </a:endParaRPr>
                    </a:p>
                  </a:txBody>
                  <a:tcPr marL="9525" marR="9525" marT="9525" marB="0" anchor="ctr"/>
                </a:tc>
              </a:tr>
            </a:tbl>
          </a:graphicData>
        </a:graphic>
      </p:graphicFrame>
    </p:spTree>
    <p:extLst>
      <p:ext uri="{BB962C8B-B14F-4D97-AF65-F5344CB8AC3E}">
        <p14:creationId xmlns:p14="http://schemas.microsoft.com/office/powerpoint/2010/main" val="249606765"/>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3191"/>
            <a:ext cx="12191999" cy="1005746"/>
          </a:xfrm>
        </p:spPr>
        <p:txBody>
          <a:bodyPr>
            <a:normAutofit fontScale="90000"/>
          </a:body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2</a:t>
            </a: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TẠO FORM, TÊN FORM, TÊN MENU</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215906189"/>
              </p:ext>
            </p:extLst>
          </p:nvPr>
        </p:nvGraphicFramePr>
        <p:xfrm>
          <a:off x="156411" y="1155032"/>
          <a:ext cx="12035590" cy="5666572"/>
        </p:xfrm>
        <a:graphic>
          <a:graphicData uri="http://schemas.openxmlformats.org/drawingml/2006/table">
            <a:tbl>
              <a:tblPr>
                <a:tableStyleId>{5C22544A-7EE6-4342-B048-85BDC9FD1C3A}</a:tableStyleId>
              </a:tblPr>
              <a:tblGrid>
                <a:gridCol w="676361"/>
                <a:gridCol w="1741986"/>
                <a:gridCol w="4635125"/>
                <a:gridCol w="4982118"/>
              </a:tblGrid>
              <a:tr h="507599">
                <a:tc>
                  <a:txBody>
                    <a:bodyPr/>
                    <a:lstStyle/>
                    <a:p>
                      <a:pPr algn="ctr" fontAlgn="b"/>
                      <a:r>
                        <a:rPr lang="en-US" sz="2500" b="1" u="none" strike="noStrike" dirty="0">
                          <a:effectLst/>
                          <a:latin typeface="Times New Roman" panose="02020603050405020304" pitchFamily="18" charset="0"/>
                          <a:cs typeface="Times New Roman" panose="02020603050405020304" pitchFamily="18" charset="0"/>
                        </a:rPr>
                        <a:t>STT</a:t>
                      </a:r>
                      <a:endParaRPr lang="en-US" sz="25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500" b="1" u="none" strike="noStrike">
                          <a:effectLst/>
                          <a:latin typeface="Times New Roman" panose="02020603050405020304" pitchFamily="18" charset="0"/>
                          <a:cs typeface="Times New Roman" panose="02020603050405020304" pitchFamily="18" charset="0"/>
                        </a:rPr>
                        <a:t>Thuộc tính</a:t>
                      </a:r>
                      <a:endParaRPr lang="en-US" sz="25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500" b="1" u="none" strike="noStrike">
                          <a:effectLst/>
                          <a:latin typeface="Times New Roman" panose="02020603050405020304" pitchFamily="18" charset="0"/>
                          <a:cs typeface="Times New Roman" panose="02020603050405020304" pitchFamily="18" charset="0"/>
                        </a:rPr>
                        <a:t>Quy định</a:t>
                      </a:r>
                      <a:endParaRPr lang="en-US" sz="25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500" b="1" u="none" strike="noStrike" dirty="0" err="1">
                          <a:effectLst/>
                          <a:latin typeface="Times New Roman" panose="02020603050405020304" pitchFamily="18" charset="0"/>
                          <a:cs typeface="Times New Roman" panose="02020603050405020304" pitchFamily="18" charset="0"/>
                        </a:rPr>
                        <a:t>Ghi</a:t>
                      </a:r>
                      <a:r>
                        <a:rPr lang="en-US" sz="2500" b="1" u="none" strike="noStrike" dirty="0">
                          <a:effectLst/>
                          <a:latin typeface="Times New Roman" panose="02020603050405020304" pitchFamily="18" charset="0"/>
                          <a:cs typeface="Times New Roman" panose="02020603050405020304" pitchFamily="18" charset="0"/>
                        </a:rPr>
                        <a:t> </a:t>
                      </a:r>
                      <a:r>
                        <a:rPr lang="en-US" sz="2500" b="1" u="none" strike="noStrike" dirty="0" err="1">
                          <a:effectLst/>
                          <a:latin typeface="Times New Roman" panose="02020603050405020304" pitchFamily="18" charset="0"/>
                          <a:cs typeface="Times New Roman" panose="02020603050405020304" pitchFamily="18" charset="0"/>
                        </a:rPr>
                        <a:t>chú</a:t>
                      </a:r>
                      <a:endParaRPr lang="en-US" sz="25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r>
              <a:tr h="1456891">
                <a:tc>
                  <a:txBody>
                    <a:bodyPr/>
                    <a:lstStyle/>
                    <a:p>
                      <a:pPr algn="ctr" fontAlgn="ctr"/>
                      <a:r>
                        <a:rPr lang="en-US" sz="2500" u="none" strike="noStrike" dirty="0">
                          <a:effectLst/>
                          <a:latin typeface="Times New Roman" panose="02020603050405020304" pitchFamily="18" charset="0"/>
                          <a:cs typeface="Times New Roman" panose="02020603050405020304" pitchFamily="18" charset="0"/>
                        </a:rPr>
                        <a:t>1</a:t>
                      </a:r>
                      <a:endParaRPr lang="en-US"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dirty="0">
                          <a:effectLst/>
                          <a:latin typeface="Times New Roman" panose="02020603050405020304" pitchFamily="18" charset="0"/>
                          <a:cs typeface="Times New Roman" panose="02020603050405020304" pitchFamily="18" charset="0"/>
                        </a:rPr>
                        <a:t>Menu</a:t>
                      </a:r>
                      <a:endParaRPr lang="en-US"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500" u="none" strike="noStrike">
                          <a:effectLst/>
                          <a:latin typeface="Times New Roman" panose="02020603050405020304" pitchFamily="18" charset="0"/>
                          <a:cs typeface="Times New Roman" panose="02020603050405020304" pitchFamily="18" charset="0"/>
                        </a:rPr>
                        <a:t>Đặt theo tên chức năng yêu cầu và phải cùng nhóm với các chức năng tương tự</a:t>
                      </a:r>
                      <a:endParaRPr lang="vi-VN"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Tên menu ở Main</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092668">
                <a:tc>
                  <a:txBody>
                    <a:bodyPr/>
                    <a:lstStyle/>
                    <a:p>
                      <a:pPr algn="ctr" fontAlgn="ctr"/>
                      <a:r>
                        <a:rPr lang="en-US" sz="2500" u="none" strike="noStrike">
                          <a:effectLst/>
                          <a:latin typeface="Times New Roman" panose="02020603050405020304" pitchFamily="18" charset="0"/>
                          <a:cs typeface="Times New Roman" panose="02020603050405020304" pitchFamily="18" charset="0"/>
                        </a:rPr>
                        <a:t>2</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dirty="0">
                          <a:effectLst/>
                          <a:latin typeface="Times New Roman" panose="02020603050405020304" pitchFamily="18" charset="0"/>
                          <a:cs typeface="Times New Roman" panose="02020603050405020304" pitchFamily="18" charset="0"/>
                        </a:rPr>
                        <a:t>Name</a:t>
                      </a:r>
                      <a:endParaRPr lang="en-US"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500" u="none" strike="noStrike" dirty="0">
                          <a:effectLst/>
                          <a:latin typeface="Times New Roman" panose="02020603050405020304" pitchFamily="18" charset="0"/>
                          <a:cs typeface="Times New Roman" panose="02020603050405020304" pitchFamily="18" charset="0"/>
                        </a:rPr>
                        <a:t>Đạt đúng mã theo Sub module tương ứng (Bảng quy định đặt tên form)</a:t>
                      </a:r>
                      <a:endParaRPr lang="vi-VN"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EDU: E</a:t>
                      </a:r>
                      <a:br>
                        <a:rPr lang="en-US" sz="2500" u="none" strike="noStrike">
                          <a:effectLst/>
                          <a:latin typeface="Times New Roman" panose="02020603050405020304" pitchFamily="18" charset="0"/>
                          <a:cs typeface="Times New Roman" panose="02020603050405020304" pitchFamily="18" charset="0"/>
                        </a:rPr>
                      </a:br>
                      <a:r>
                        <a:rPr lang="en-US" sz="2500" u="none" strike="noStrike">
                          <a:effectLst/>
                          <a:latin typeface="Times New Roman" panose="02020603050405020304" pitchFamily="18" charset="0"/>
                          <a:cs typeface="Times New Roman" panose="02020603050405020304" pitchFamily="18" charset="0"/>
                        </a:rPr>
                        <a:t>HRM: H</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2549557">
                <a:tc>
                  <a:txBody>
                    <a:bodyPr/>
                    <a:lstStyle/>
                    <a:p>
                      <a:pPr algn="ctr" fontAlgn="ctr"/>
                      <a:r>
                        <a:rPr lang="en-US" sz="2500" u="none" strike="noStrike">
                          <a:effectLst/>
                          <a:latin typeface="Times New Roman" panose="02020603050405020304" pitchFamily="18" charset="0"/>
                          <a:cs typeface="Times New Roman" panose="02020603050405020304" pitchFamily="18" charset="0"/>
                        </a:rPr>
                        <a:t>3</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Title, Text</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500" u="none" strike="noStrike" dirty="0">
                          <a:effectLst/>
                          <a:latin typeface="Times New Roman" panose="02020603050405020304" pitchFamily="18" charset="0"/>
                          <a:cs typeface="Times New Roman" panose="02020603050405020304" pitchFamily="18" charset="0"/>
                        </a:rPr>
                        <a:t>Theo tên menu đã đặt ở Main.</a:t>
                      </a:r>
                      <a:br>
                        <a:rPr lang="vi-VN" sz="2500" u="none" strike="noStrike" dirty="0">
                          <a:effectLst/>
                          <a:latin typeface="Times New Roman" panose="02020603050405020304" pitchFamily="18" charset="0"/>
                          <a:cs typeface="Times New Roman" panose="02020603050405020304" pitchFamily="18" charset="0"/>
                        </a:rPr>
                      </a:br>
                      <a:r>
                        <a:rPr lang="vi-VN" sz="2500" u="none" strike="noStrike" dirty="0">
                          <a:effectLst/>
                          <a:latin typeface="Times New Roman" panose="02020603050405020304" pitchFamily="18" charset="0"/>
                          <a:cs typeface="Times New Roman" panose="02020603050405020304" pitchFamily="18" charset="0"/>
                        </a:rPr>
                        <a:t>Đối với các chức năng Thêm, Sửa, Sao chép khi hiên các popup phải hiển thị tên theo chức năng tương ứng</a:t>
                      </a:r>
                      <a:endParaRPr lang="vi-VN"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500" u="none" strike="noStrike" dirty="0">
                          <a:effectLst/>
                          <a:latin typeface="Times New Roman" panose="02020603050405020304" pitchFamily="18" charset="0"/>
                          <a:cs typeface="Times New Roman" panose="02020603050405020304" pitchFamily="18" charset="0"/>
                        </a:rPr>
                        <a:t>VD: Danh mục Cơ sở</a:t>
                      </a:r>
                      <a:br>
                        <a:rPr lang="vi-VN" sz="2500" u="none" strike="noStrike" dirty="0">
                          <a:effectLst/>
                          <a:latin typeface="Times New Roman" panose="02020603050405020304" pitchFamily="18" charset="0"/>
                          <a:cs typeface="Times New Roman" panose="02020603050405020304" pitchFamily="18" charset="0"/>
                        </a:rPr>
                      </a:br>
                      <a:r>
                        <a:rPr lang="vi-VN" sz="2500" u="none" strike="noStrike" dirty="0">
                          <a:effectLst/>
                          <a:latin typeface="Times New Roman" panose="02020603050405020304" pitchFamily="18" charset="0"/>
                          <a:cs typeface="Times New Roman" panose="02020603050405020304" pitchFamily="18" charset="0"/>
                        </a:rPr>
                        <a:t>-Nhấn nút thêm ==&gt; Form Thêm cơ sở</a:t>
                      </a:r>
                      <a:br>
                        <a:rPr lang="vi-VN" sz="2500" u="none" strike="noStrike" dirty="0">
                          <a:effectLst/>
                          <a:latin typeface="Times New Roman" panose="02020603050405020304" pitchFamily="18" charset="0"/>
                          <a:cs typeface="Times New Roman" panose="02020603050405020304" pitchFamily="18" charset="0"/>
                        </a:rPr>
                      </a:br>
                      <a:r>
                        <a:rPr lang="vi-VN" sz="2500" u="none" strike="noStrike" dirty="0">
                          <a:effectLst/>
                          <a:latin typeface="Times New Roman" panose="02020603050405020304" pitchFamily="18" charset="0"/>
                          <a:cs typeface="Times New Roman" panose="02020603050405020304" pitchFamily="18" charset="0"/>
                        </a:rPr>
                        <a:t>Nhấn nút Sửa ==&gt; Cập nhật cơ sở</a:t>
                      </a:r>
                      <a:br>
                        <a:rPr lang="vi-VN" sz="2500" u="none" strike="noStrike" dirty="0">
                          <a:effectLst/>
                          <a:latin typeface="Times New Roman" panose="02020603050405020304" pitchFamily="18" charset="0"/>
                          <a:cs typeface="Times New Roman" panose="02020603050405020304" pitchFamily="18" charset="0"/>
                        </a:rPr>
                      </a:br>
                      <a:r>
                        <a:rPr lang="vi-VN" sz="2500" u="none" strike="noStrike" dirty="0">
                          <a:effectLst/>
                          <a:latin typeface="Times New Roman" panose="02020603050405020304" pitchFamily="18" charset="0"/>
                          <a:cs typeface="Times New Roman" panose="02020603050405020304" pitchFamily="18" charset="0"/>
                        </a:rPr>
                        <a:t>Nhấn nút Sao chép ==&gt; Thêm cơ sở</a:t>
                      </a:r>
                      <a:endParaRPr lang="vi-VN"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bl>
          </a:graphicData>
        </a:graphic>
      </p:graphicFrame>
    </p:spTree>
    <p:extLst>
      <p:ext uri="{BB962C8B-B14F-4D97-AF65-F5344CB8AC3E}">
        <p14:creationId xmlns:p14="http://schemas.microsoft.com/office/powerpoint/2010/main" val="1668775574"/>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3191"/>
            <a:ext cx="12191999" cy="1005746"/>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3. MỘT SỐ FORM HỖ TRỢ NGHIỆP VỤ</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61702712"/>
              </p:ext>
            </p:extLst>
          </p:nvPr>
        </p:nvGraphicFramePr>
        <p:xfrm>
          <a:off x="156411" y="1239253"/>
          <a:ext cx="11923293" cy="5534526"/>
        </p:xfrm>
        <a:graphic>
          <a:graphicData uri="http://schemas.openxmlformats.org/drawingml/2006/table">
            <a:tbl>
              <a:tblPr>
                <a:tableStyleId>{5C22544A-7EE6-4342-B048-85BDC9FD1C3A}</a:tableStyleId>
              </a:tblPr>
              <a:tblGrid>
                <a:gridCol w="670051"/>
                <a:gridCol w="2823780"/>
                <a:gridCol w="3493830"/>
                <a:gridCol w="4935632"/>
              </a:tblGrid>
              <a:tr h="650613">
                <a:tc>
                  <a:txBody>
                    <a:bodyPr/>
                    <a:lstStyle/>
                    <a:p>
                      <a:pPr algn="ctr" fontAlgn="b"/>
                      <a:r>
                        <a:rPr lang="en-US" sz="2500" b="1" u="none" strike="noStrike" dirty="0">
                          <a:effectLst/>
                          <a:latin typeface="Times New Roman" panose="02020603050405020304" pitchFamily="18" charset="0"/>
                          <a:cs typeface="Times New Roman" panose="02020603050405020304" pitchFamily="18" charset="0"/>
                        </a:rPr>
                        <a:t>STT</a:t>
                      </a:r>
                      <a:endParaRPr lang="en-US" sz="25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500" b="1" u="none" strike="noStrike">
                          <a:effectLst/>
                          <a:latin typeface="Times New Roman" panose="02020603050405020304" pitchFamily="18" charset="0"/>
                          <a:cs typeface="Times New Roman" panose="02020603050405020304" pitchFamily="18" charset="0"/>
                        </a:rPr>
                        <a:t>Form</a:t>
                      </a:r>
                      <a:endParaRPr lang="en-US" sz="25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500" b="1" u="none" strike="noStrike" dirty="0" err="1">
                          <a:effectLst/>
                          <a:latin typeface="Times New Roman" panose="02020603050405020304" pitchFamily="18" charset="0"/>
                          <a:cs typeface="Times New Roman" panose="02020603050405020304" pitchFamily="18" charset="0"/>
                        </a:rPr>
                        <a:t>Tính</a:t>
                      </a:r>
                      <a:r>
                        <a:rPr lang="en-US" sz="2500" b="1" u="none" strike="noStrike" dirty="0">
                          <a:effectLst/>
                          <a:latin typeface="Times New Roman" panose="02020603050405020304" pitchFamily="18" charset="0"/>
                          <a:cs typeface="Times New Roman" panose="02020603050405020304" pitchFamily="18" charset="0"/>
                        </a:rPr>
                        <a:t> </a:t>
                      </a:r>
                      <a:r>
                        <a:rPr lang="en-US" sz="2500" b="1" u="none" strike="noStrike" dirty="0" err="1">
                          <a:effectLst/>
                          <a:latin typeface="Times New Roman" panose="02020603050405020304" pitchFamily="18" charset="0"/>
                          <a:cs typeface="Times New Roman" panose="02020603050405020304" pitchFamily="18" charset="0"/>
                        </a:rPr>
                        <a:t>năng</a:t>
                      </a:r>
                      <a:endParaRPr lang="en-US" sz="25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500" b="1" u="none" strike="noStrike" dirty="0" err="1">
                          <a:effectLst/>
                          <a:latin typeface="Times New Roman" panose="02020603050405020304" pitchFamily="18" charset="0"/>
                          <a:cs typeface="Times New Roman" panose="02020603050405020304" pitchFamily="18" charset="0"/>
                        </a:rPr>
                        <a:t>Sử</a:t>
                      </a:r>
                      <a:r>
                        <a:rPr lang="en-US" sz="2500" b="1" u="none" strike="noStrike" dirty="0">
                          <a:effectLst/>
                          <a:latin typeface="Times New Roman" panose="02020603050405020304" pitchFamily="18" charset="0"/>
                          <a:cs typeface="Times New Roman" panose="02020603050405020304" pitchFamily="18" charset="0"/>
                        </a:rPr>
                        <a:t> </a:t>
                      </a:r>
                      <a:r>
                        <a:rPr lang="en-US" sz="2500" b="1" u="none" strike="noStrike" dirty="0" err="1">
                          <a:effectLst/>
                          <a:latin typeface="Times New Roman" panose="02020603050405020304" pitchFamily="18" charset="0"/>
                          <a:cs typeface="Times New Roman" panose="02020603050405020304" pitchFamily="18" charset="0"/>
                        </a:rPr>
                        <a:t>dụng</a:t>
                      </a:r>
                      <a:endParaRPr lang="en-US" sz="25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r>
              <a:tr h="1321111">
                <a:tc>
                  <a:txBody>
                    <a:bodyPr/>
                    <a:lstStyle/>
                    <a:p>
                      <a:pPr algn="ctr" fontAlgn="ctr"/>
                      <a:r>
                        <a:rPr lang="en-US" sz="2500" u="none" strike="noStrike">
                          <a:effectLst/>
                          <a:latin typeface="Times New Roman" panose="02020603050405020304" pitchFamily="18" charset="0"/>
                          <a:cs typeface="Times New Roman" panose="02020603050405020304" pitchFamily="18" charset="0"/>
                        </a:rPr>
                        <a:t>1</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ProgressForm</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Hỗ trợ process xử lý đa tuyến trình</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Tham khảo E035002</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981664">
                <a:tc>
                  <a:txBody>
                    <a:bodyPr/>
                    <a:lstStyle/>
                    <a:p>
                      <a:pPr algn="ctr" fontAlgn="ctr"/>
                      <a:r>
                        <a:rPr lang="en-US" sz="2500" u="none" strike="noStrike">
                          <a:effectLst/>
                          <a:latin typeface="Times New Roman" panose="02020603050405020304" pitchFamily="18" charset="0"/>
                          <a:cs typeface="Times New Roman" panose="02020603050405020304" pitchFamily="18" charset="0"/>
                        </a:rPr>
                        <a:t>2</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dirty="0">
                          <a:effectLst/>
                          <a:latin typeface="Times New Roman" panose="02020603050405020304" pitchFamily="18" charset="0"/>
                          <a:cs typeface="Times New Roman" panose="02020603050405020304" pitchFamily="18" charset="0"/>
                        </a:rPr>
                        <a:t>PF055</a:t>
                      </a:r>
                      <a:endParaRPr lang="en-US"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500" u="none" strike="noStrike" dirty="0">
                          <a:effectLst/>
                          <a:latin typeface="Times New Roman" panose="02020603050405020304" pitchFamily="18" charset="0"/>
                          <a:cs typeface="Times New Roman" panose="02020603050405020304" pitchFamily="18" charset="0"/>
                        </a:rPr>
                        <a:t>Hỗ trợ hiển thị danh sách lỗi dạng lưới theo cấu trúc được định nghĩa.</a:t>
                      </a:r>
                      <a:endParaRPr lang="vi-VN"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Tham khảo E035002</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660554">
                <a:tc>
                  <a:txBody>
                    <a:bodyPr/>
                    <a:lstStyle/>
                    <a:p>
                      <a:pPr algn="ctr" fontAlgn="ctr"/>
                      <a:r>
                        <a:rPr lang="en-US" sz="2500" u="none" strike="noStrike">
                          <a:effectLst/>
                          <a:latin typeface="Times New Roman" panose="02020603050405020304" pitchFamily="18" charset="0"/>
                          <a:cs typeface="Times New Roman" panose="02020603050405020304" pitchFamily="18" charset="0"/>
                        </a:rPr>
                        <a:t>3</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PF065</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dirty="0" err="1">
                          <a:effectLst/>
                          <a:latin typeface="Times New Roman" panose="02020603050405020304" pitchFamily="18" charset="0"/>
                          <a:cs typeface="Times New Roman" panose="02020603050405020304" pitchFamily="18" charset="0"/>
                        </a:rPr>
                        <a:t>Chọn</a:t>
                      </a:r>
                      <a:r>
                        <a:rPr lang="en-US" sz="2500" u="none" strike="noStrike" dirty="0">
                          <a:effectLst/>
                          <a:latin typeface="Times New Roman" panose="02020603050405020304" pitchFamily="18" charset="0"/>
                          <a:cs typeface="Times New Roman" panose="02020603050405020304" pitchFamily="18" charset="0"/>
                        </a:rPr>
                        <a:t> </a:t>
                      </a:r>
                      <a:r>
                        <a:rPr lang="en-US" sz="2500" u="none" strike="noStrike" dirty="0" err="1">
                          <a:effectLst/>
                          <a:latin typeface="Times New Roman" panose="02020603050405020304" pitchFamily="18" charset="0"/>
                          <a:cs typeface="Times New Roman" panose="02020603050405020304" pitchFamily="18" charset="0"/>
                        </a:rPr>
                        <a:t>nhiều</a:t>
                      </a:r>
                      <a:r>
                        <a:rPr lang="en-US" sz="2500" u="none" strike="noStrike" dirty="0">
                          <a:effectLst/>
                          <a:latin typeface="Times New Roman" panose="02020603050405020304" pitchFamily="18" charset="0"/>
                          <a:cs typeface="Times New Roman" panose="02020603050405020304" pitchFamily="18" charset="0"/>
                        </a:rPr>
                        <a:t> </a:t>
                      </a:r>
                      <a:r>
                        <a:rPr lang="en-US" sz="2500" u="none" strike="noStrike" dirty="0" err="1">
                          <a:effectLst/>
                          <a:latin typeface="Times New Roman" panose="02020603050405020304" pitchFamily="18" charset="0"/>
                          <a:cs typeface="Times New Roman" panose="02020603050405020304" pitchFamily="18" charset="0"/>
                        </a:rPr>
                        <a:t>sinh</a:t>
                      </a:r>
                      <a:r>
                        <a:rPr lang="en-US" sz="2500" u="none" strike="noStrike" dirty="0">
                          <a:effectLst/>
                          <a:latin typeface="Times New Roman" panose="02020603050405020304" pitchFamily="18" charset="0"/>
                          <a:cs typeface="Times New Roman" panose="02020603050405020304" pitchFamily="18" charset="0"/>
                        </a:rPr>
                        <a:t> </a:t>
                      </a:r>
                      <a:r>
                        <a:rPr lang="en-US" sz="2500" u="none" strike="noStrike" dirty="0" err="1">
                          <a:effectLst/>
                          <a:latin typeface="Times New Roman" panose="02020603050405020304" pitchFamily="18" charset="0"/>
                          <a:cs typeface="Times New Roman" panose="02020603050405020304" pitchFamily="18" charset="0"/>
                        </a:rPr>
                        <a:t>viên</a:t>
                      </a:r>
                      <a:endParaRPr lang="en-US"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500" u="none" strike="noStrike">
                          <a:effectLst/>
                          <a:latin typeface="Times New Roman" panose="02020603050405020304" pitchFamily="18" charset="0"/>
                          <a:cs typeface="Times New Roman" panose="02020603050405020304" pitchFamily="18" charset="0"/>
                        </a:rPr>
                        <a:t>Tham khảo E022336</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920584">
                <a:tc>
                  <a:txBody>
                    <a:bodyPr/>
                    <a:lstStyle/>
                    <a:p>
                      <a:pPr algn="ctr" fontAlgn="ctr"/>
                      <a:r>
                        <a:rPr lang="en-US" sz="2500" u="none" strike="noStrike">
                          <a:effectLst/>
                          <a:latin typeface="Times New Roman" panose="02020603050405020304" pitchFamily="18" charset="0"/>
                          <a:cs typeface="Times New Roman" panose="02020603050405020304" pitchFamily="18" charset="0"/>
                        </a:rPr>
                        <a:t>4</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en-US" sz="2500" u="none" strike="noStrike">
                          <a:effectLst/>
                          <a:latin typeface="Times New Roman" panose="02020603050405020304" pitchFamily="18" charset="0"/>
                          <a:cs typeface="Times New Roman" panose="02020603050405020304" pitchFamily="18" charset="0"/>
                        </a:rPr>
                        <a:t>PF051</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2500" u="none" strike="noStrike">
                          <a:effectLst/>
                          <a:latin typeface="Times New Roman" panose="02020603050405020304" pitchFamily="18" charset="0"/>
                          <a:cs typeface="Times New Roman" panose="02020603050405020304" pitchFamily="18" charset="0"/>
                        </a:rPr>
                        <a:t>Nhập lý do</a:t>
                      </a:r>
                      <a:endParaRPr lang="en-US" sz="25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2500" u="none" strike="noStrike" dirty="0" err="1">
                          <a:effectLst/>
                          <a:latin typeface="Times New Roman" panose="02020603050405020304" pitchFamily="18" charset="0"/>
                          <a:cs typeface="Times New Roman" panose="02020603050405020304" pitchFamily="18" charset="0"/>
                        </a:rPr>
                        <a:t>Tham</a:t>
                      </a:r>
                      <a:r>
                        <a:rPr lang="en-US" sz="2500" u="none" strike="noStrike" dirty="0">
                          <a:effectLst/>
                          <a:latin typeface="Times New Roman" panose="02020603050405020304" pitchFamily="18" charset="0"/>
                          <a:cs typeface="Times New Roman" panose="02020603050405020304" pitchFamily="18" charset="0"/>
                        </a:rPr>
                        <a:t> </a:t>
                      </a:r>
                      <a:r>
                        <a:rPr lang="en-US" sz="2500" u="none" strike="noStrike" dirty="0" err="1">
                          <a:effectLst/>
                          <a:latin typeface="Times New Roman" panose="02020603050405020304" pitchFamily="18" charset="0"/>
                          <a:cs typeface="Times New Roman" panose="02020603050405020304" pitchFamily="18" charset="0"/>
                        </a:rPr>
                        <a:t>khảo</a:t>
                      </a:r>
                      <a:r>
                        <a:rPr lang="en-US" sz="2500" u="none" strike="noStrike" dirty="0">
                          <a:effectLst/>
                          <a:latin typeface="Times New Roman" panose="02020603050405020304" pitchFamily="18" charset="0"/>
                          <a:cs typeface="Times New Roman" panose="02020603050405020304" pitchFamily="18" charset="0"/>
                        </a:rPr>
                        <a:t> E040480</a:t>
                      </a:r>
                      <a:endParaRPr lang="en-US" sz="2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r>
            </a:tbl>
          </a:graphicData>
        </a:graphic>
      </p:graphicFrame>
    </p:spTree>
    <p:extLst>
      <p:ext uri="{BB962C8B-B14F-4D97-AF65-F5344CB8AC3E}">
        <p14:creationId xmlns:p14="http://schemas.microsoft.com/office/powerpoint/2010/main" val="208950358"/>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3191"/>
            <a:ext cx="12191999" cy="1005746"/>
          </a:xfrm>
        </p:spPr>
        <p:txBody>
          <a:bodyPr>
            <a:normAutofit fontScale="90000"/>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4. ĐỊNH DẠNG KIỂU DỮ LIỆU VÀ FORMAT HIỂN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THỊ (1)</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904183727"/>
              </p:ext>
            </p:extLst>
          </p:nvPr>
        </p:nvGraphicFramePr>
        <p:xfrm>
          <a:off x="192504" y="986587"/>
          <a:ext cx="11999494" cy="5727033"/>
        </p:xfrm>
        <a:graphic>
          <a:graphicData uri="http://schemas.openxmlformats.org/drawingml/2006/table">
            <a:tbl>
              <a:tblPr>
                <a:tableStyleId>{5C22544A-7EE6-4342-B048-85BDC9FD1C3A}</a:tableStyleId>
              </a:tblPr>
              <a:tblGrid>
                <a:gridCol w="601580"/>
                <a:gridCol w="1947604"/>
                <a:gridCol w="2549184"/>
                <a:gridCol w="3601157"/>
                <a:gridCol w="3299969"/>
              </a:tblGrid>
              <a:tr h="399314">
                <a:tc>
                  <a:txBody>
                    <a:bodyPr/>
                    <a:lstStyle/>
                    <a:p>
                      <a:pPr algn="ctr" fontAlgn="b"/>
                      <a:r>
                        <a:rPr lang="en-US" sz="2000" b="1" u="none" strike="noStrike" dirty="0">
                          <a:effectLst/>
                          <a:latin typeface="Times New Roman" panose="02020603050405020304" pitchFamily="18" charset="0"/>
                          <a:cs typeface="Times New Roman" panose="02020603050405020304" pitchFamily="18" charset="0"/>
                        </a:rPr>
                        <a:t>STT</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en-US" sz="2000" b="1" u="none" strike="noStrike">
                          <a:effectLst/>
                          <a:latin typeface="Times New Roman" panose="02020603050405020304" pitchFamily="18" charset="0"/>
                          <a:cs typeface="Times New Roman" panose="02020603050405020304" pitchFamily="18" charset="0"/>
                        </a:rPr>
                        <a:t>Kiểu dữ liệu</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en-US" sz="2000" b="1" u="none" strike="noStrike" dirty="0">
                          <a:effectLst/>
                          <a:latin typeface="Times New Roman" panose="02020603050405020304" pitchFamily="18" charset="0"/>
                          <a:cs typeface="Times New Roman" panose="02020603050405020304" pitchFamily="18" charset="0"/>
                        </a:rPr>
                        <a:t>Controls </a:t>
                      </a:r>
                      <a:r>
                        <a:rPr lang="en-US" sz="2000" b="1" u="none" strike="noStrike" dirty="0" err="1">
                          <a:effectLst/>
                          <a:latin typeface="Times New Roman" panose="02020603050405020304" pitchFamily="18" charset="0"/>
                          <a:cs typeface="Times New Roman" panose="02020603050405020304" pitchFamily="18" charset="0"/>
                        </a:rPr>
                        <a:t>nên</a:t>
                      </a:r>
                      <a:r>
                        <a:rPr lang="en-US" sz="2000" b="1" u="none" strike="noStrike" dirty="0">
                          <a:effectLst/>
                          <a:latin typeface="Times New Roman" panose="02020603050405020304" pitchFamily="18" charset="0"/>
                          <a:cs typeface="Times New Roman" panose="02020603050405020304" pitchFamily="18" charset="0"/>
                        </a:rPr>
                        <a:t> </a:t>
                      </a:r>
                      <a:r>
                        <a:rPr lang="en-US" sz="2000" b="1" u="none" strike="noStrike" dirty="0" err="1">
                          <a:effectLst/>
                          <a:latin typeface="Times New Roman" panose="02020603050405020304" pitchFamily="18" charset="0"/>
                          <a:cs typeface="Times New Roman" panose="02020603050405020304" pitchFamily="18" charset="0"/>
                        </a:rPr>
                        <a:t>sử</a:t>
                      </a:r>
                      <a:r>
                        <a:rPr lang="en-US" sz="2000" b="1" u="none" strike="noStrike" dirty="0">
                          <a:effectLst/>
                          <a:latin typeface="Times New Roman" panose="02020603050405020304" pitchFamily="18" charset="0"/>
                          <a:cs typeface="Times New Roman" panose="02020603050405020304" pitchFamily="18" charset="0"/>
                        </a:rPr>
                        <a:t> </a:t>
                      </a:r>
                      <a:r>
                        <a:rPr lang="en-US" sz="2000" b="1" u="none" strike="noStrike" dirty="0" err="1">
                          <a:effectLst/>
                          <a:latin typeface="Times New Roman" panose="02020603050405020304" pitchFamily="18" charset="0"/>
                          <a:cs typeface="Times New Roman" panose="02020603050405020304" pitchFamily="18" charset="0"/>
                        </a:rPr>
                        <a:t>dụng</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vi-VN" sz="2000" b="1" u="none" strike="noStrike">
                          <a:effectLst/>
                          <a:latin typeface="Times New Roman" panose="02020603050405020304" pitchFamily="18" charset="0"/>
                          <a:cs typeface="Times New Roman" panose="02020603050405020304" pitchFamily="18" charset="0"/>
                        </a:rPr>
                        <a:t>Format lưới</a:t>
                      </a:r>
                      <a:endParaRPr lang="vi-VN"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en-US" sz="2000" b="1" u="none" strike="noStrike" dirty="0" err="1">
                          <a:effectLst/>
                          <a:latin typeface="Times New Roman" panose="02020603050405020304" pitchFamily="18" charset="0"/>
                          <a:cs typeface="Times New Roman" panose="02020603050405020304" pitchFamily="18" charset="0"/>
                        </a:rPr>
                        <a:t>Xuất</a:t>
                      </a:r>
                      <a:r>
                        <a:rPr lang="en-US" sz="2000" b="1" u="none" strike="noStrike" dirty="0">
                          <a:effectLst/>
                          <a:latin typeface="Times New Roman" panose="02020603050405020304" pitchFamily="18" charset="0"/>
                          <a:cs typeface="Times New Roman" panose="02020603050405020304" pitchFamily="18" charset="0"/>
                        </a:rPr>
                        <a:t> Excel</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r>
              <a:tr h="109012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BOOL</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PMTCheckBox</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CheckBox</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Canh</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giữa</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Canh giữa</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r>
              <a:tr h="109012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BYTE</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rowSpan="3">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PMTTextBox</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hoặc</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PMTIntergerTextBox</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rowSpan="3">
                  <a:txBody>
                    <a:bodyPr/>
                    <a:lstStyle/>
                    <a:p>
                      <a:pPr algn="l" fontAlgn="ctr"/>
                      <a:r>
                        <a:rPr lang="en-US" sz="2000" u="none" strike="noStrike">
                          <a:effectLst/>
                          <a:latin typeface="Times New Roman" panose="02020603050405020304" pitchFamily="18" charset="0"/>
                          <a:cs typeface="Times New Roman" panose="02020603050405020304" pitchFamily="18" charset="0"/>
                        </a:rPr>
                        <a:t>Giá trị kiểu số, canh giữa nếu tổng giá trị &lt;1000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rowSpan="3">
                  <a:txBody>
                    <a:bodyPr/>
                    <a:lstStyle/>
                    <a:p>
                      <a:pPr algn="l" fontAlgn="ctr"/>
                      <a:r>
                        <a:rPr lang="en-US" sz="2000" u="none" strike="noStrike">
                          <a:effectLst/>
                          <a:latin typeface="Times New Roman" panose="02020603050405020304" pitchFamily="18" charset="0"/>
                          <a:cs typeface="Times New Roman" panose="02020603050405020304" pitchFamily="18" charset="0"/>
                        </a:rPr>
                        <a:t>Giá trị kiểu số, canh giữa nếu tổng giá trị &lt;1000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r>
              <a:tr h="790780">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SHORT</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vMerge="1">
                  <a:txBody>
                    <a:bodyPr/>
                    <a:lstStyle/>
                    <a:p>
                      <a:endParaRPr lang="en-US"/>
                    </a:p>
                  </a:txBody>
                  <a:tcPr/>
                </a:tc>
                <a:tc vMerge="1">
                  <a:txBody>
                    <a:bodyPr/>
                    <a:lstStyle/>
                    <a:p>
                      <a:endParaRPr lang="en-US"/>
                    </a:p>
                  </a:txBody>
                  <a:tcPr/>
                </a:tc>
                <a:tc vMerge="1">
                  <a:txBody>
                    <a:bodyPr/>
                    <a:lstStyle/>
                    <a:p>
                      <a:endParaRPr lang="en-US"/>
                    </a:p>
                  </a:txBody>
                  <a:tcPr/>
                </a:tc>
              </a:tr>
              <a:tr h="790780">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INT</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vMerge="1">
                  <a:txBody>
                    <a:bodyPr/>
                    <a:lstStyle/>
                    <a:p>
                      <a:endParaRPr lang="en-US"/>
                    </a:p>
                  </a:txBody>
                  <a:tcPr/>
                </a:tc>
                <a:tc vMerge="1">
                  <a:txBody>
                    <a:bodyPr/>
                    <a:lstStyle/>
                    <a:p>
                      <a:endParaRPr lang="en-US"/>
                    </a:p>
                  </a:txBody>
                  <a:tcPr/>
                </a:tc>
                <a:tc vMerge="1">
                  <a:txBody>
                    <a:bodyPr/>
                    <a:lstStyle/>
                    <a:p>
                      <a:endParaRPr lang="en-US"/>
                    </a:p>
                  </a:txBody>
                  <a:tcPr/>
                </a:tc>
              </a:tr>
              <a:tr h="156590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INT (Giá trị Referencse)</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PMTSelector</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vi-VN" sz="2000" u="none" strike="noStrike">
                          <a:effectLst/>
                          <a:latin typeface="Times New Roman" panose="02020603050405020304" pitchFamily="18" charset="0"/>
                          <a:cs typeface="Times New Roman" panose="02020603050405020304" pitchFamily="18" charset="0"/>
                        </a:rPr>
                        <a:t>Giá trị Text lấy theo References tương ứng</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vi-VN" sz="2000" u="none" strike="noStrike" dirty="0">
                          <a:effectLst/>
                          <a:latin typeface="Times New Roman" panose="02020603050405020304" pitchFamily="18" charset="0"/>
                          <a:cs typeface="Times New Roman" panose="02020603050405020304" pitchFamily="18" charset="0"/>
                        </a:rPr>
                        <a:t>Giá trị Text lấy theo References tương ứng</a:t>
                      </a:r>
                      <a:endParaRPr lang="vi-V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r>
            </a:tbl>
          </a:graphicData>
        </a:graphic>
      </p:graphicFrame>
    </p:spTree>
    <p:extLst>
      <p:ext uri="{BB962C8B-B14F-4D97-AF65-F5344CB8AC3E}">
        <p14:creationId xmlns:p14="http://schemas.microsoft.com/office/powerpoint/2010/main" val="2531197884"/>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3191"/>
            <a:ext cx="12191999" cy="1005746"/>
          </a:xfrm>
        </p:spPr>
        <p:txBody>
          <a:bodyPr>
            <a:normAutofit fontScale="90000"/>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4. ĐỊNH DẠNG KIỂU DỮ LIỆU VÀ FORMAT HIỂN THỊ</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108205167"/>
              </p:ext>
            </p:extLst>
          </p:nvPr>
        </p:nvGraphicFramePr>
        <p:xfrm>
          <a:off x="192504" y="986588"/>
          <a:ext cx="11999494" cy="5815828"/>
        </p:xfrm>
        <a:graphic>
          <a:graphicData uri="http://schemas.openxmlformats.org/drawingml/2006/table">
            <a:tbl>
              <a:tblPr>
                <a:tableStyleId>{5C22544A-7EE6-4342-B048-85BDC9FD1C3A}</a:tableStyleId>
              </a:tblPr>
              <a:tblGrid>
                <a:gridCol w="613612"/>
                <a:gridCol w="1935572"/>
                <a:gridCol w="2549184"/>
                <a:gridCol w="3601157"/>
                <a:gridCol w="3299969"/>
              </a:tblGrid>
              <a:tr h="298708">
                <a:tc>
                  <a:txBody>
                    <a:bodyPr/>
                    <a:lstStyle/>
                    <a:p>
                      <a:pPr algn="ctr" fontAlgn="b"/>
                      <a:r>
                        <a:rPr lang="en-US" sz="2000" b="1" u="none" strike="noStrike" dirty="0">
                          <a:effectLst/>
                          <a:latin typeface="Times New Roman" panose="02020603050405020304" pitchFamily="18" charset="0"/>
                          <a:cs typeface="Times New Roman" panose="02020603050405020304" pitchFamily="18" charset="0"/>
                        </a:rPr>
                        <a:t>STT</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en-US" sz="2000" b="1" u="none" strike="noStrike">
                          <a:effectLst/>
                          <a:latin typeface="Times New Roman" panose="02020603050405020304" pitchFamily="18" charset="0"/>
                          <a:cs typeface="Times New Roman" panose="02020603050405020304" pitchFamily="18" charset="0"/>
                        </a:rPr>
                        <a:t>Kiểu dữ liệu</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en-US" sz="2000" b="1" u="none" strike="noStrike">
                          <a:effectLst/>
                          <a:latin typeface="Times New Roman" panose="02020603050405020304" pitchFamily="18" charset="0"/>
                          <a:cs typeface="Times New Roman" panose="02020603050405020304" pitchFamily="18" charset="0"/>
                        </a:rPr>
                        <a:t>Controls nên sử dụng</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vi-VN" sz="2000" b="1" u="none" strike="noStrike">
                          <a:effectLst/>
                          <a:latin typeface="Times New Roman" panose="02020603050405020304" pitchFamily="18" charset="0"/>
                          <a:cs typeface="Times New Roman" panose="02020603050405020304" pitchFamily="18" charset="0"/>
                        </a:rPr>
                        <a:t>Format lưới</a:t>
                      </a:r>
                      <a:endParaRPr lang="vi-VN"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c>
                  <a:txBody>
                    <a:bodyPr/>
                    <a:lstStyle/>
                    <a:p>
                      <a:pPr algn="ctr" fontAlgn="b"/>
                      <a:r>
                        <a:rPr lang="en-US" sz="2000" b="1" u="none" strike="noStrike" dirty="0" err="1">
                          <a:effectLst/>
                          <a:latin typeface="Times New Roman" panose="02020603050405020304" pitchFamily="18" charset="0"/>
                          <a:cs typeface="Times New Roman" panose="02020603050405020304" pitchFamily="18" charset="0"/>
                        </a:rPr>
                        <a:t>Xuất</a:t>
                      </a:r>
                      <a:r>
                        <a:rPr lang="en-US" sz="2000" b="1" u="none" strike="noStrike" dirty="0">
                          <a:effectLst/>
                          <a:latin typeface="Times New Roman" panose="02020603050405020304" pitchFamily="18" charset="0"/>
                          <a:cs typeface="Times New Roman" panose="02020603050405020304" pitchFamily="18" charset="0"/>
                        </a:rPr>
                        <a:t> Excel</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157" marR="6157" marT="6157" marB="0" anchor="b"/>
                </a:tc>
              </a:tr>
              <a:tr h="1286008">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6</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DECIMAL</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PMTCurrencyTextBox</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vi-VN" sz="2000" u="none" strike="noStrike" dirty="0">
                          <a:effectLst/>
                          <a:latin typeface="Times New Roman" panose="02020603050405020304" pitchFamily="18" charset="0"/>
                          <a:cs typeface="Times New Roman" panose="02020603050405020304" pitchFamily="18" charset="0"/>
                        </a:rPr>
                        <a:t>- Nếu có số thập phân thì canh giữa</a:t>
                      </a:r>
                      <a:br>
                        <a:rPr lang="vi-VN" sz="2000" u="none" strike="noStrike" dirty="0">
                          <a:effectLst/>
                          <a:latin typeface="Times New Roman" panose="02020603050405020304" pitchFamily="18" charset="0"/>
                          <a:cs typeface="Times New Roman" panose="02020603050405020304" pitchFamily="18" charset="0"/>
                        </a:rPr>
                      </a:br>
                      <a:r>
                        <a:rPr lang="vi-VN" sz="2000" u="none" strike="noStrike" dirty="0">
                          <a:effectLst/>
                          <a:latin typeface="Times New Roman" panose="02020603050405020304" pitchFamily="18" charset="0"/>
                          <a:cs typeface="Times New Roman" panose="02020603050405020304" pitchFamily="18" charset="0"/>
                        </a:rPr>
                        <a:t>- Nếu là số nguyên (Tiền) thì canh phải</a:t>
                      </a:r>
                      <a:br>
                        <a:rPr lang="vi-VN" sz="2000" u="none" strike="noStrike" dirty="0">
                          <a:effectLst/>
                          <a:latin typeface="Times New Roman" panose="02020603050405020304" pitchFamily="18" charset="0"/>
                          <a:cs typeface="Times New Roman" panose="02020603050405020304" pitchFamily="18" charset="0"/>
                        </a:rPr>
                      </a:br>
                      <a:r>
                        <a:rPr lang="vi-VN" sz="2000" u="none" strike="noStrike" dirty="0">
                          <a:effectLst/>
                          <a:latin typeface="Times New Roman" panose="02020603050405020304" pitchFamily="18" charset="0"/>
                          <a:cs typeface="Times New Roman" panose="02020603050405020304" pitchFamily="18" charset="0"/>
                        </a:rPr>
                        <a:t>- Phải có dòng tổng (trừ trường hợp chỉ có đơn giá)</a:t>
                      </a:r>
                      <a:endParaRPr lang="vi-V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vi-VN" sz="2000" u="none" strike="noStrike" dirty="0">
                          <a:effectLst/>
                          <a:latin typeface="Times New Roman" panose="02020603050405020304" pitchFamily="18" charset="0"/>
                          <a:cs typeface="Times New Roman" panose="02020603050405020304" pitchFamily="18" charset="0"/>
                        </a:rPr>
                        <a:t>- Nếu có số thập phân thì canh giữa</a:t>
                      </a:r>
                      <a:br>
                        <a:rPr lang="vi-VN" sz="2000" u="none" strike="noStrike" dirty="0">
                          <a:effectLst/>
                          <a:latin typeface="Times New Roman" panose="02020603050405020304" pitchFamily="18" charset="0"/>
                          <a:cs typeface="Times New Roman" panose="02020603050405020304" pitchFamily="18" charset="0"/>
                        </a:rPr>
                      </a:br>
                      <a:r>
                        <a:rPr lang="vi-VN" sz="2000" u="none" strike="noStrike" dirty="0">
                          <a:effectLst/>
                          <a:latin typeface="Times New Roman" panose="02020603050405020304" pitchFamily="18" charset="0"/>
                          <a:cs typeface="Times New Roman" panose="02020603050405020304" pitchFamily="18" charset="0"/>
                        </a:rPr>
                        <a:t>- Nếu là số nguyên (Tiền) thì canh phải</a:t>
                      </a:r>
                      <a:br>
                        <a:rPr lang="vi-VN" sz="2000" u="none" strike="noStrike" dirty="0">
                          <a:effectLst/>
                          <a:latin typeface="Times New Roman" panose="02020603050405020304" pitchFamily="18" charset="0"/>
                          <a:cs typeface="Times New Roman" panose="02020603050405020304" pitchFamily="18" charset="0"/>
                        </a:rPr>
                      </a:br>
                      <a:r>
                        <a:rPr lang="vi-VN" sz="2000" u="none" strike="noStrike" dirty="0">
                          <a:effectLst/>
                          <a:latin typeface="Times New Roman" panose="02020603050405020304" pitchFamily="18" charset="0"/>
                          <a:cs typeface="Times New Roman" panose="02020603050405020304" pitchFamily="18" charset="0"/>
                        </a:rPr>
                        <a:t>- Phải có dòng tổng (trừ trường hợp chỉ có đơn giá)</a:t>
                      </a:r>
                      <a:endParaRPr lang="vi-V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r>
              <a:tr h="128600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STRINGS</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PMTTextBox</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Nếu</a:t>
                      </a:r>
                      <a:r>
                        <a:rPr lang="en-US" sz="2000" u="none" strike="noStrike" dirty="0">
                          <a:effectLst/>
                          <a:latin typeface="Times New Roman" panose="02020603050405020304" pitchFamily="18" charset="0"/>
                          <a:cs typeface="Times New Roman" panose="02020603050405020304" pitchFamily="18" charset="0"/>
                        </a:rPr>
                        <a:t> &gt; 200 </a:t>
                      </a:r>
                      <a:r>
                        <a:rPr lang="en-US" sz="2000" u="none" strike="noStrike" dirty="0" err="1">
                          <a:effectLst/>
                          <a:latin typeface="Times New Roman" panose="02020603050405020304" pitchFamily="18" charset="0"/>
                          <a:cs typeface="Times New Roman" panose="02020603050405020304" pitchFamily="18" charset="0"/>
                        </a:rPr>
                        <a:t>ký</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tự</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và</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có</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không</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gian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trống</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thì</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nên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để</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ít</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nhất</a:t>
                      </a:r>
                      <a:r>
                        <a:rPr lang="en-US" sz="2000" u="none" strike="noStrike" dirty="0">
                          <a:effectLst/>
                          <a:latin typeface="Times New Roman" panose="02020603050405020304" pitchFamily="18" charset="0"/>
                          <a:cs typeface="Times New Roman" panose="02020603050405020304" pitchFamily="18" charset="0"/>
                        </a:rPr>
                        <a:t> 2 line</a:t>
                      </a:r>
                      <a:br>
                        <a:rPr lang="en-US" sz="2000" u="none" strike="noStrike" dirty="0">
                          <a:effectLst/>
                          <a:latin typeface="Times New Roman" panose="02020603050405020304" pitchFamily="18" charset="0"/>
                          <a:cs typeface="Times New Roman" panose="02020603050405020304" pitchFamily="18" charset="0"/>
                        </a:rPr>
                      </a:b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Đối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với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các</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cột</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thuộc</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tính</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là</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Mã</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Nên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canh</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giữa</a:t>
                      </a:r>
                      <a:r>
                        <a:rPr lang="en-US" sz="2000" u="none" strike="noStrike" dirty="0">
                          <a:effectLst/>
                          <a:latin typeface="Times New Roman" panose="02020603050405020304" pitchFamily="18" charset="0"/>
                          <a:cs typeface="Times New Roman" panose="02020603050405020304" pitchFamily="18" charset="0"/>
                        </a:rPr>
                        <a:t>)</a:t>
                      </a:r>
                      <a:br>
                        <a:rPr lang="en-US" sz="2000" u="none" strike="noStrike" dirty="0">
                          <a:effectLst/>
                          <a:latin typeface="Times New Roman" panose="02020603050405020304" pitchFamily="18" charset="0"/>
                          <a:cs typeface="Times New Roman" panose="02020603050405020304" pitchFamily="18" charset="0"/>
                        </a:rPr>
                      </a:b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Ràng</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buộc</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MaxLength</a:t>
                      </a:r>
                      <a:r>
                        <a:rPr lang="en-US" sz="2000" u="none" strike="noStrike" dirty="0">
                          <a:effectLst/>
                          <a:latin typeface="Times New Roman" panose="02020603050405020304" pitchFamily="18" charset="0"/>
                          <a:cs typeface="Times New Roman" panose="02020603050405020304" pitchFamily="18" charset="0"/>
                        </a:rPr>
                        <a:t/>
                      </a:r>
                      <a:br>
                        <a:rPr lang="en-US" sz="2000" u="none" strike="noStrike" dirty="0">
                          <a:effectLst/>
                          <a:latin typeface="Times New Roman" panose="02020603050405020304" pitchFamily="18" charset="0"/>
                          <a:cs typeface="Times New Roman" panose="02020603050405020304" pitchFamily="18" charset="0"/>
                        </a:rPr>
                      </a:b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 Nên Wrap text</a:t>
                      </a:r>
                      <a:br>
                        <a:rPr lang="en-US" sz="2000" u="none" strike="noStrike">
                          <a:effectLst/>
                          <a:latin typeface="Times New Roman" panose="02020603050405020304" pitchFamily="18" charset="0"/>
                          <a:cs typeface="Times New Roman" panose="02020603050405020304" pitchFamily="18" charset="0"/>
                        </a:rPr>
                      </a:br>
                      <a:r>
                        <a:rPr lang="en-US" sz="2000" u="none" strike="noStrike">
                          <a:effectLst/>
                          <a:latin typeface="Times New Roman" panose="02020603050405020304" pitchFamily="18" charset="0"/>
                          <a:cs typeface="Times New Roman" panose="02020603050405020304" pitchFamily="18" charset="0"/>
                        </a:rPr>
                        <a:t>- Các thuộc tính là Mã… Phải sử dụng Extends để cộng thêm dấu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r>
              <a:tr h="128600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DATETIME</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PMTDateTimeInput</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Canh</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giữa</a:t>
                      </a:r>
                      <a:r>
                        <a:rPr lang="en-US" sz="2000" u="none" strike="noStrike" dirty="0">
                          <a:effectLst/>
                          <a:latin typeface="Times New Roman" panose="02020603050405020304" pitchFamily="18" charset="0"/>
                          <a:cs typeface="Times New Roman" panose="02020603050405020304" pitchFamily="18" charset="0"/>
                        </a:rPr>
                        <a:t/>
                      </a:r>
                      <a:br>
                        <a:rPr lang="en-US" sz="2000" u="none" strike="noStrike" dirty="0">
                          <a:effectLst/>
                          <a:latin typeface="Times New Roman" panose="02020603050405020304" pitchFamily="18" charset="0"/>
                          <a:cs typeface="Times New Roman" panose="02020603050405020304" pitchFamily="18" charset="0"/>
                        </a:rPr>
                      </a:br>
                      <a:r>
                        <a:rPr lang="en-US" sz="2000" u="none" strike="noStrike" dirty="0">
                          <a:effectLst/>
                          <a:latin typeface="Times New Roman" panose="02020603050405020304" pitchFamily="18" charset="0"/>
                          <a:cs typeface="Times New Roman" panose="02020603050405020304" pitchFamily="18" charset="0"/>
                        </a:rPr>
                        <a:t>Format </a:t>
                      </a:r>
                      <a:r>
                        <a:rPr lang="en-US" sz="2000" u="none" strike="noStrike" dirty="0" err="1">
                          <a:effectLst/>
                          <a:latin typeface="Times New Roman" panose="02020603050405020304" pitchFamily="18" charset="0"/>
                          <a:cs typeface="Times New Roman" panose="02020603050405020304" pitchFamily="18" charset="0"/>
                        </a:rPr>
                        <a:t>dd</a:t>
                      </a:r>
                      <a:r>
                        <a:rPr lang="en-US" sz="2000" u="none" strike="noStrike" dirty="0">
                          <a:effectLst/>
                          <a:latin typeface="Times New Roman" panose="02020603050405020304" pitchFamily="18" charset="0"/>
                          <a:cs typeface="Times New Roman" panose="02020603050405020304" pitchFamily="18" charset="0"/>
                        </a:rPr>
                        <a:t>/MM/</a:t>
                      </a:r>
                      <a:r>
                        <a:rPr lang="en-US" sz="2000" u="none" strike="noStrike" dirty="0" err="1">
                          <a:effectLst/>
                          <a:latin typeface="Times New Roman" panose="02020603050405020304" pitchFamily="18" charset="0"/>
                          <a:cs typeface="Times New Roman" panose="02020603050405020304" pitchFamily="18" charset="0"/>
                        </a:rPr>
                        <a:t>yyyy</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đối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với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dữ</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liệu</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chỉ</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quan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tâm</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đến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ngày</a:t>
                      </a:r>
                      <a:r>
                        <a:rPr lang="en-US" sz="2000" u="none" strike="noStrike" dirty="0">
                          <a:effectLst/>
                          <a:latin typeface="Times New Roman" panose="02020603050405020304" pitchFamily="18" charset="0"/>
                          <a:cs typeface="Times New Roman" panose="02020603050405020304" pitchFamily="18" charset="0"/>
                        </a:rPr>
                        <a:t>.</a:t>
                      </a:r>
                      <a:br>
                        <a:rPr lang="en-US" sz="2000" u="none" strike="noStrike" dirty="0">
                          <a:effectLst/>
                          <a:latin typeface="Times New Roman" panose="02020603050405020304" pitchFamily="18" charset="0"/>
                          <a:cs typeface="Times New Roman" panose="02020603050405020304" pitchFamily="18" charset="0"/>
                        </a:rPr>
                      </a:br>
                      <a:r>
                        <a:rPr lang="en-US" sz="2000" u="none" strike="noStrike" dirty="0">
                          <a:effectLst/>
                          <a:latin typeface="Times New Roman" panose="02020603050405020304" pitchFamily="18" charset="0"/>
                          <a:cs typeface="Times New Roman" panose="02020603050405020304" pitchFamily="18" charset="0"/>
                        </a:rPr>
                        <a:t>Format </a:t>
                      </a:r>
                      <a:r>
                        <a:rPr lang="en-US" sz="2000" u="none" strike="noStrike" dirty="0" err="1">
                          <a:effectLst/>
                          <a:latin typeface="Times New Roman" panose="02020603050405020304" pitchFamily="18" charset="0"/>
                          <a:cs typeface="Times New Roman" panose="02020603050405020304" pitchFamily="18" charset="0"/>
                        </a:rPr>
                        <a:t>dd</a:t>
                      </a:r>
                      <a:r>
                        <a:rPr lang="en-US" sz="2000" u="none" strike="noStrike" dirty="0">
                          <a:effectLst/>
                          <a:latin typeface="Times New Roman" panose="02020603050405020304" pitchFamily="18" charset="0"/>
                          <a:cs typeface="Times New Roman" panose="02020603050405020304" pitchFamily="18" charset="0"/>
                        </a:rPr>
                        <a:t>/MM/</a:t>
                      </a:r>
                      <a:r>
                        <a:rPr lang="en-US" sz="2000" u="none" strike="noStrike" dirty="0" err="1">
                          <a:effectLst/>
                          <a:latin typeface="Times New Roman" panose="02020603050405020304" pitchFamily="18" charset="0"/>
                          <a:cs typeface="Times New Roman" panose="02020603050405020304" pitchFamily="18" charset="0"/>
                        </a:rPr>
                        <a:t>yyyy</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hh:mm</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đối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với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dữ</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liệu</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quan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tâm</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đến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thời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gian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thực</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hiện</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 </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157" marR="6157" marT="6157" marB="0" anchor="ctr"/>
                </a:tc>
              </a:tr>
            </a:tbl>
          </a:graphicData>
        </a:graphic>
      </p:graphicFrame>
    </p:spTree>
    <p:extLst>
      <p:ext uri="{BB962C8B-B14F-4D97-AF65-F5344CB8AC3E}">
        <p14:creationId xmlns:p14="http://schemas.microsoft.com/office/powerpoint/2010/main" val="1936236968"/>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3191"/>
            <a:ext cx="12191999" cy="1005746"/>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5.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QUY ĐỊNH </a:t>
            </a: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KHÁC</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595946167"/>
              </p:ext>
            </p:extLst>
          </p:nvPr>
        </p:nvGraphicFramePr>
        <p:xfrm>
          <a:off x="96253" y="1010654"/>
          <a:ext cx="11995484" cy="5678904"/>
        </p:xfrm>
        <a:graphic>
          <a:graphicData uri="http://schemas.openxmlformats.org/drawingml/2006/table">
            <a:tbl>
              <a:tblPr>
                <a:tableStyleId>{5C22544A-7EE6-4342-B048-85BDC9FD1C3A}</a:tableStyleId>
              </a:tblPr>
              <a:tblGrid>
                <a:gridCol w="675122"/>
                <a:gridCol w="6347359"/>
                <a:gridCol w="4973003"/>
              </a:tblGrid>
              <a:tr h="549369">
                <a:tc>
                  <a:txBody>
                    <a:bodyPr/>
                    <a:lstStyle/>
                    <a:p>
                      <a:pPr algn="ctr" fontAlgn="b"/>
                      <a:r>
                        <a:rPr lang="en-US" sz="2000" b="1" u="none" strike="noStrike" dirty="0">
                          <a:effectLst/>
                          <a:latin typeface="Times New Roman" panose="02020603050405020304" pitchFamily="18" charset="0"/>
                          <a:cs typeface="Times New Roman" panose="02020603050405020304" pitchFamily="18" charset="0"/>
                        </a:rPr>
                        <a:t>STT</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000" b="1" u="none" strike="noStrike">
                          <a:effectLst/>
                          <a:latin typeface="Times New Roman" panose="02020603050405020304" pitchFamily="18" charset="0"/>
                          <a:cs typeface="Times New Roman" panose="02020603050405020304" pitchFamily="18" charset="0"/>
                        </a:rPr>
                        <a:t>Nội dung</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000" b="1" u="none" strike="noStrike" dirty="0" err="1">
                          <a:effectLst/>
                          <a:latin typeface="Times New Roman" panose="02020603050405020304" pitchFamily="18" charset="0"/>
                          <a:cs typeface="Times New Roman" panose="02020603050405020304" pitchFamily="18" charset="0"/>
                        </a:rPr>
                        <a:t>Ghi</a:t>
                      </a:r>
                      <a:r>
                        <a:rPr lang="en-US" sz="2000" b="1" u="none" strike="noStrike" dirty="0">
                          <a:effectLst/>
                          <a:latin typeface="Times New Roman" panose="02020603050405020304" pitchFamily="18" charset="0"/>
                          <a:cs typeface="Times New Roman" panose="02020603050405020304" pitchFamily="18" charset="0"/>
                        </a:rPr>
                        <a:t> </a:t>
                      </a:r>
                      <a:r>
                        <a:rPr lang="en-US" sz="2000" b="1" u="none" strike="noStrike" dirty="0" err="1">
                          <a:effectLst/>
                          <a:latin typeface="Times New Roman" panose="02020603050405020304" pitchFamily="18" charset="0"/>
                          <a:cs typeface="Times New Roman" panose="02020603050405020304" pitchFamily="18" charset="0"/>
                        </a:rPr>
                        <a:t>chú</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r>
              <a:tr h="118258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Luôn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luôn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đánh</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TabIndex</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a:effectLst/>
                          <a:latin typeface="Times New Roman" panose="02020603050405020304" pitchFamily="18" charset="0"/>
                          <a:cs typeface="Times New Roman" panose="02020603050405020304" pitchFamily="18" charset="0"/>
                        </a:rPr>
                        <a:t>Thứ tự ưu tiên: </a:t>
                      </a:r>
                      <a:br>
                        <a:rPr lang="vi-VN" sz="2000" u="none" strike="noStrike">
                          <a:effectLst/>
                          <a:latin typeface="Times New Roman" panose="02020603050405020304" pitchFamily="18" charset="0"/>
                          <a:cs typeface="Times New Roman" panose="02020603050405020304" pitchFamily="18" charset="0"/>
                        </a:rPr>
                      </a:br>
                      <a:r>
                        <a:rPr lang="vi-VN" sz="2000" u="none" strike="noStrike">
                          <a:effectLst/>
                          <a:latin typeface="Times New Roman" panose="02020603050405020304" pitchFamily="18" charset="0"/>
                          <a:cs typeface="Times New Roman" panose="02020603050405020304" pitchFamily="18" charset="0"/>
                        </a:rPr>
                        <a:t> - Từ Trái qua phải</a:t>
                      </a:r>
                      <a:br>
                        <a:rPr lang="vi-VN" sz="2000" u="none" strike="noStrike">
                          <a:effectLst/>
                          <a:latin typeface="Times New Roman" panose="02020603050405020304" pitchFamily="18" charset="0"/>
                          <a:cs typeface="Times New Roman" panose="02020603050405020304" pitchFamily="18" charset="0"/>
                        </a:rPr>
                      </a:br>
                      <a:r>
                        <a:rPr lang="vi-VN" sz="2000" u="none" strike="noStrike">
                          <a:effectLst/>
                          <a:latin typeface="Times New Roman" panose="02020603050405020304" pitchFamily="18" charset="0"/>
                          <a:cs typeface="Times New Roman" panose="02020603050405020304" pitchFamily="18" charset="0"/>
                        </a:rPr>
                        <a:t>- Từ Trên xuống dưới</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549369">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Kiểm</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tra</a:t>
                      </a:r>
                      <a:r>
                        <a:rPr lang="en-US" sz="2000" u="none" strike="noStrike" dirty="0">
                          <a:effectLst/>
                          <a:latin typeface="Times New Roman" panose="02020603050405020304" pitchFamily="18" charset="0"/>
                          <a:cs typeface="Times New Roman" panose="02020603050405020304" pitchFamily="18" charset="0"/>
                        </a:rPr>
                        <a:t> max length </a:t>
                      </a:r>
                      <a:r>
                        <a:rPr lang="en-US" sz="2000" u="none" strike="noStrike" dirty="0" err="1">
                          <a:effectLst/>
                          <a:latin typeface="Times New Roman" panose="02020603050405020304" pitchFamily="18" charset="0"/>
                          <a:cs typeface="Times New Roman" panose="02020603050405020304" pitchFamily="18" charset="0"/>
                        </a:rPr>
                        <a:t>đối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với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dữ</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liệu</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nhập</a:t>
                      </a:r>
                      <a:r>
                        <a:rPr lang="en-US" sz="2000" u="none" strike="noStrike" dirty="0">
                          <a:effectLst/>
                          <a:latin typeface="Times New Roman" panose="02020603050405020304" pitchFamily="18" charset="0"/>
                          <a:cs typeface="Times New Roman" panose="02020603050405020304" pitchFamily="18" charset="0"/>
                        </a:rPr>
                        <a:t> text</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788389">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dirty="0">
                          <a:effectLst/>
                          <a:latin typeface="Times New Roman" panose="02020603050405020304" pitchFamily="18" charset="0"/>
                          <a:cs typeface="Times New Roman" panose="02020603050405020304" pitchFamily="18" charset="0"/>
                        </a:rPr>
                        <a:t>Nhập số thập phân trên lưới phải dùng hàm convert và làm tròn theo đúng nghiệp vụ</a:t>
                      </a:r>
                      <a:endParaRPr lang="vi-V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Các nội dung liên quan đến nhập điểm</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426609">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dirty="0">
                          <a:effectLst/>
                          <a:latin typeface="Times New Roman" panose="02020603050405020304" pitchFamily="18" charset="0"/>
                          <a:cs typeface="Times New Roman" panose="02020603050405020304" pitchFamily="18" charset="0"/>
                        </a:rPr>
                        <a:t>Khi hiển thị popup để cập nhật dữ liệu của Form chính, sau khi cập nhật thành công, tắt Form Popup thì dữ liệu form chính phải được lọc lại</a:t>
                      </a:r>
                      <a:endParaRPr lang="vi-V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18258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b"/>
                      <a:r>
                        <a:rPr lang="vi-VN" sz="2000" u="none" strike="noStrike">
                          <a:effectLst/>
                          <a:latin typeface="Times New Roman" panose="02020603050405020304" pitchFamily="18" charset="0"/>
                          <a:cs typeface="Times New Roman" panose="02020603050405020304" pitchFamily="18" charset="0"/>
                        </a:rPr>
                        <a:t>Khi cho phép nhập trên lưới phải Format màu các cột được nhập theo quy định, và bắt buộc có cột tracking</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l" fontAlgn="b"/>
                      <a:r>
                        <a:rPr lang="en-US" sz="2000" u="none" strike="noStrike" dirty="0" err="1">
                          <a:effectLst/>
                          <a:latin typeface="Times New Roman" panose="02020603050405020304" pitchFamily="18" charset="0"/>
                          <a:cs typeface="Times New Roman" panose="02020603050405020304" pitchFamily="18" charset="0"/>
                        </a:rPr>
                        <a:t>BackColor</a:t>
                      </a:r>
                      <a:r>
                        <a:rPr lang="en-US" sz="2000" u="none" strike="noStrike" dirty="0">
                          <a:effectLst/>
                          <a:latin typeface="Times New Roman" panose="02020603050405020304" pitchFamily="18" charset="0"/>
                          <a:cs typeface="Times New Roman" panose="02020603050405020304" pitchFamily="18" charset="0"/>
                        </a:rPr>
                        <a:t> = </a:t>
                      </a:r>
                      <a:r>
                        <a:rPr lang="en-US" sz="2000" u="none" strike="noStrike" dirty="0" err="1">
                          <a:effectLst/>
                          <a:latin typeface="Times New Roman" panose="02020603050405020304" pitchFamily="18" charset="0"/>
                          <a:cs typeface="Times New Roman" panose="02020603050405020304" pitchFamily="18" charset="0"/>
                        </a:rPr>
                        <a:t>System.Drawing.SystemColors.GradientActiveCaption</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r>
            </a:tbl>
          </a:graphicData>
        </a:graphic>
      </p:graphicFrame>
    </p:spTree>
    <p:extLst>
      <p:ext uri="{BB962C8B-B14F-4D97-AF65-F5344CB8AC3E}">
        <p14:creationId xmlns:p14="http://schemas.microsoft.com/office/powerpoint/2010/main" val="449855965"/>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3191"/>
            <a:ext cx="12191999" cy="1005746"/>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6</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CODE (1)</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810417970"/>
              </p:ext>
            </p:extLst>
          </p:nvPr>
        </p:nvGraphicFramePr>
        <p:xfrm>
          <a:off x="192505" y="1118938"/>
          <a:ext cx="11999493" cy="5630778"/>
        </p:xfrm>
        <a:graphic>
          <a:graphicData uri="http://schemas.openxmlformats.org/drawingml/2006/table">
            <a:tbl>
              <a:tblPr>
                <a:tableStyleId>{5C22544A-7EE6-4342-B048-85BDC9FD1C3A}</a:tableStyleId>
              </a:tblPr>
              <a:tblGrid>
                <a:gridCol w="675347"/>
                <a:gridCol w="6349481"/>
                <a:gridCol w="4974665"/>
              </a:tblGrid>
              <a:tr h="476926">
                <a:tc>
                  <a:txBody>
                    <a:bodyPr/>
                    <a:lstStyle/>
                    <a:p>
                      <a:pPr algn="ctr" fontAlgn="b"/>
                      <a:r>
                        <a:rPr lang="en-US" sz="2000" b="1" u="none" strike="noStrike" dirty="0">
                          <a:effectLst/>
                          <a:latin typeface="Times New Roman" panose="02020603050405020304" pitchFamily="18" charset="0"/>
                          <a:cs typeface="Times New Roman" panose="02020603050405020304" pitchFamily="18" charset="0"/>
                        </a:rPr>
                        <a:t>STT</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000" b="1" u="none" strike="noStrike">
                          <a:effectLst/>
                          <a:latin typeface="Times New Roman" panose="02020603050405020304" pitchFamily="18" charset="0"/>
                          <a:cs typeface="Times New Roman" panose="02020603050405020304" pitchFamily="18" charset="0"/>
                        </a:rPr>
                        <a:t>Nội dung</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2000" b="1" u="none" strike="noStrike" dirty="0" err="1">
                          <a:effectLst/>
                          <a:latin typeface="Times New Roman" panose="02020603050405020304" pitchFamily="18" charset="0"/>
                          <a:cs typeface="Times New Roman" panose="02020603050405020304" pitchFamily="18" charset="0"/>
                        </a:rPr>
                        <a:t>Ghi</a:t>
                      </a:r>
                      <a:r>
                        <a:rPr lang="en-US" sz="2000" b="1" u="none" strike="noStrike" dirty="0">
                          <a:effectLst/>
                          <a:latin typeface="Times New Roman" panose="02020603050405020304" pitchFamily="18" charset="0"/>
                          <a:cs typeface="Times New Roman" panose="02020603050405020304" pitchFamily="18" charset="0"/>
                        </a:rPr>
                        <a:t> </a:t>
                      </a:r>
                      <a:r>
                        <a:rPr lang="en-US" sz="2000" b="1" u="none" strike="noStrike" dirty="0" err="1">
                          <a:effectLst/>
                          <a:latin typeface="Times New Roman" panose="02020603050405020304" pitchFamily="18" charset="0"/>
                          <a:cs typeface="Times New Roman" panose="02020603050405020304" pitchFamily="18" charset="0"/>
                        </a:rPr>
                        <a:t>chú</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9525" marR="9525" marT="9525" marB="0" anchor="b"/>
                </a:tc>
              </a:tr>
              <a:tr h="34221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Phải comment tên form, chức năng của form</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47692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a:effectLst/>
                          <a:latin typeface="Times New Roman" panose="02020603050405020304" pitchFamily="18" charset="0"/>
                          <a:cs typeface="Times New Roman" panose="02020603050405020304" pitchFamily="18" charset="0"/>
                        </a:rPr>
                        <a:t>Comment tên người tạo, ngày tạo</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a:effectLst/>
                          <a:latin typeface="Times New Roman" panose="02020603050405020304" pitchFamily="18" charset="0"/>
                          <a:cs typeface="Times New Roman" panose="02020603050405020304" pitchFamily="18" charset="0"/>
                        </a:rPr>
                        <a:t>Nếu là người tạo form</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68442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a:effectLst/>
                          <a:latin typeface="Times New Roman" panose="02020603050405020304" pitchFamily="18" charset="0"/>
                          <a:cs typeface="Times New Roman" panose="02020603050405020304" pitchFamily="18" charset="0"/>
                        </a:rPr>
                        <a:t>Comment tên người cập nhật, ngày cập nhật, nội dung cập nhật</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a:effectLst/>
                          <a:latin typeface="Times New Roman" panose="02020603050405020304" pitchFamily="18" charset="0"/>
                          <a:cs typeface="Times New Roman" panose="02020603050405020304" pitchFamily="18" charset="0"/>
                        </a:rPr>
                        <a:t>Đối với các trường hợp thay đổi nghiệp vụ</a:t>
                      </a:r>
                      <a:endParaRPr lang="vi-VN"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82514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dirty="0" err="1">
                          <a:effectLst/>
                          <a:latin typeface="Times New Roman" panose="02020603050405020304" pitchFamily="18" charset="0"/>
                          <a:cs typeface="Times New Roman" panose="02020603050405020304" pitchFamily="18" charset="0"/>
                        </a:rPr>
                        <a:t>Phải</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sử</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dụng</a:t>
                      </a:r>
                      <a:r>
                        <a:rPr lang="en-US" sz="2000" u="none" strike="noStrike" dirty="0">
                          <a:effectLst/>
                          <a:latin typeface="Times New Roman" panose="02020603050405020304" pitchFamily="18" charset="0"/>
                          <a:cs typeface="Times New Roman" panose="02020603050405020304" pitchFamily="18" charset="0"/>
                        </a:rPr>
                        <a:t> Region </a:t>
                      </a:r>
                      <a:r>
                        <a:rPr lang="en-US" sz="2000" u="none" strike="noStrike" dirty="0" err="1">
                          <a:effectLst/>
                          <a:latin typeface="Times New Roman" panose="02020603050405020304" pitchFamily="18" charset="0"/>
                          <a:cs typeface="Times New Roman" panose="02020603050405020304" pitchFamily="18" charset="0"/>
                        </a:rPr>
                        <a:t>để</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phân</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tách</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cấu</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trúc</a:t>
                      </a:r>
                      <a:r>
                        <a:rPr lang="en-US" sz="2000" u="none" strike="noStrike" dirty="0">
                          <a:effectLst/>
                          <a:latin typeface="Times New Roman" panose="02020603050405020304" pitchFamily="18" charset="0"/>
                          <a:cs typeface="Times New Roman" panose="02020603050405020304" pitchFamily="18" charset="0"/>
                        </a:rPr>
                        <a:t> </a:t>
                      </a:r>
                      <a:r>
                        <a:rPr lang="en-US" sz="2000" u="none" strike="noStrike" dirty="0" err="1">
                          <a:effectLst/>
                          <a:latin typeface="Times New Roman" panose="02020603050405020304" pitchFamily="18" charset="0"/>
                          <a:cs typeface="Times New Roman" panose="02020603050405020304" pitchFamily="18" charset="0"/>
                        </a:rPr>
                        <a:t>trong</a:t>
                      </a:r>
                      <a:r>
                        <a:rPr lang="en-US" sz="2000" u="none" strike="noStrike" dirty="0">
                          <a:effectLst/>
                          <a:latin typeface="Times New Roman" panose="02020603050405020304" pitchFamily="18" charset="0"/>
                          <a:cs typeface="Times New Roman" panose="02020603050405020304" pitchFamily="18" charset="0"/>
                        </a:rPr>
                        <a:t> form (Variable, Constructor, Private methods, Public Methods, </a:t>
                      </a:r>
                      <a:r>
                        <a:rPr lang="en-US" sz="2000" u="none" strike="noStrike" dirty="0" err="1">
                          <a:effectLst/>
                          <a:latin typeface="Times New Roman" panose="02020603050405020304" pitchFamily="18" charset="0"/>
                          <a:cs typeface="Times New Roman" panose="02020603050405020304" pitchFamily="18" charset="0"/>
                        </a:rPr>
                        <a:t>Overide</a:t>
                      </a:r>
                      <a:r>
                        <a:rPr lang="en-US" sz="2000" u="none" strike="noStrike" dirty="0">
                          <a:effectLst/>
                          <a:latin typeface="Times New Roman" panose="02020603050405020304" pitchFamily="18" charset="0"/>
                          <a:cs typeface="Times New Roman" panose="02020603050405020304" pitchFamily="18" charset="0"/>
                        </a:rPr>
                        <a:t> methods, Events, Property)</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r h="182514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vi-VN" sz="2000" u="none" strike="noStrike" dirty="0">
                          <a:effectLst/>
                          <a:latin typeface="Times New Roman" panose="02020603050405020304" pitchFamily="18" charset="0"/>
                          <a:cs typeface="Times New Roman" panose="02020603050405020304" pitchFamily="18" charset="0"/>
                        </a:rPr>
                        <a:t>Nên dùng Region để phân tách code trong 1 hàm, nếu code xử lý nhiều và phức tạp trên 20 lệnh trong nhiều trường hợp</a:t>
                      </a:r>
                      <a:endParaRPr lang="vi-VN"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l" fontAlgn="ctr"/>
                      <a:r>
                        <a:rPr lang="en-US" sz="2000" u="none" strike="noStrike" dirty="0">
                          <a:effectLst/>
                          <a:latin typeface="Times New Roman" panose="02020603050405020304" pitchFamily="18" charset="0"/>
                          <a:cs typeface="Times New Roman" panose="02020603050405020304" pitchFamily="18" charset="0"/>
                        </a:rPr>
                        <a:t> </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r>
            </a:tbl>
          </a:graphicData>
        </a:graphic>
      </p:graphicFrame>
    </p:spTree>
    <p:extLst>
      <p:ext uri="{BB962C8B-B14F-4D97-AF65-F5344CB8AC3E}">
        <p14:creationId xmlns:p14="http://schemas.microsoft.com/office/powerpoint/2010/main" val="3338608362"/>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606" y="-1"/>
            <a:ext cx="11169446" cy="1179871"/>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6</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CODE(2)</a:t>
            </a:r>
            <a:b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b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Content Placeholder 3"/>
          <p:cNvSpPr>
            <a:spLocks noGrp="1"/>
          </p:cNvSpPr>
          <p:nvPr>
            <p:ph idx="1"/>
          </p:nvPr>
        </p:nvSpPr>
        <p:spPr>
          <a:xfrm>
            <a:off x="757084" y="1288026"/>
            <a:ext cx="10962968" cy="5112774"/>
          </a:xfrm>
        </p:spPr>
        <p:txBody>
          <a:bodyPr/>
          <a:lstStyle/>
          <a:p>
            <a:pPr marL="457200" indent="-457200">
              <a:buAutoNum type="arabicPeriod"/>
            </a:pP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Luôn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design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lưới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trên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hàm</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InitFrom</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Trừ</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một</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số</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trường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hợp</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đặc</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biệt</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a:t>
            </a:r>
          </a:p>
          <a:p>
            <a:pPr marL="457200" indent="-457200">
              <a:buAutoNum type="arabicPeriod"/>
            </a:pP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Phải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chèn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dòng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code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cấu</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hình</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cột</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hiển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thị</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và</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kiểm</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tra</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cột</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hiển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thị</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trước</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khi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design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lưới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Dành</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cho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các</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màn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hình</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hiển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thị</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nhiều</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thông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tin)</a:t>
            </a:r>
          </a:p>
          <a:p>
            <a:pPr marL="457200" indent="-457200">
              <a:buAutoNum type="arabicPeriod"/>
            </a:pP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757084" y="2911494"/>
            <a:ext cx="9966255" cy="2220944"/>
          </a:xfrm>
          <a:prstGeom prst="rect">
            <a:avLst/>
          </a:prstGeom>
        </p:spPr>
      </p:pic>
    </p:spTree>
    <p:extLst>
      <p:ext uri="{BB962C8B-B14F-4D97-AF65-F5344CB8AC3E}">
        <p14:creationId xmlns:p14="http://schemas.microsoft.com/office/powerpoint/2010/main" val="472167899"/>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606" y="-1"/>
            <a:ext cx="11169446" cy="1179871"/>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6</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CODE(3)</a:t>
            </a:r>
            <a:b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b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Content Placeholder 3"/>
          <p:cNvSpPr>
            <a:spLocks noGrp="1"/>
          </p:cNvSpPr>
          <p:nvPr>
            <p:ph idx="1"/>
          </p:nvPr>
        </p:nvSpPr>
        <p:spPr>
          <a:xfrm>
            <a:off x="757084" y="1288026"/>
            <a:ext cx="10962968" cy="5112774"/>
          </a:xfrm>
        </p:spPr>
        <p:txBody>
          <a:bodyPr/>
          <a:lstStyle/>
          <a:p>
            <a:pPr marL="457200" indent="-457200">
              <a:buAutoNum type="arabicPeriod"/>
            </a:pP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Phải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chèn</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dòng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code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sau</a:t>
            </a:r>
            <a:r>
              <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trước</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khi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sử</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dụng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để</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in,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xuất</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dữ</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liệu</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ra</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biểu</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mẫu</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a:t>
            </a:r>
          </a:p>
          <a:p>
            <a:pPr marL="0" indent="0">
              <a:buNone/>
            </a:pPr>
            <a:endParaRPr lang="en-US"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r>
              <a:rPr lang="en-US"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Dùng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hàm</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này</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đối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với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đối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tượng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không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kế</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thừa</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từ</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EntityBase</a:t>
            </a:r>
            <a:endPar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endPar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Dùng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hàm</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này</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đối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với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đối</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tượng</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có</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kế</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thừa</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từ</a:t>
            </a:r>
            <a:r>
              <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a:t>
            </a:r>
            <a:r>
              <a:rPr lang="en-US" dirty="0" err="1"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EntityBase</a:t>
            </a:r>
            <a:endPar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a:pP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757084" y="2980899"/>
            <a:ext cx="7438095" cy="561905"/>
          </a:xfrm>
          <a:prstGeom prst="rect">
            <a:avLst/>
          </a:prstGeom>
        </p:spPr>
      </p:pic>
      <p:pic>
        <p:nvPicPr>
          <p:cNvPr id="6" name="Picture 5"/>
          <p:cNvPicPr>
            <a:picLocks noChangeAspect="1"/>
          </p:cNvPicPr>
          <p:nvPr/>
        </p:nvPicPr>
        <p:blipFill>
          <a:blip r:embed="rId3"/>
          <a:stretch>
            <a:fillRect/>
          </a:stretch>
        </p:blipFill>
        <p:spPr>
          <a:xfrm>
            <a:off x="870052" y="4116814"/>
            <a:ext cx="8190476" cy="276190"/>
          </a:xfrm>
          <a:prstGeom prst="rect">
            <a:avLst/>
          </a:prstGeom>
        </p:spPr>
      </p:pic>
    </p:spTree>
    <p:extLst>
      <p:ext uri="{BB962C8B-B14F-4D97-AF65-F5344CB8AC3E}">
        <p14:creationId xmlns:p14="http://schemas.microsoft.com/office/powerpoint/2010/main" val="2909018907"/>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922662177"/>
      </p:ext>
    </p:extLst>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63" y="1491916"/>
            <a:ext cx="11939335" cy="5281863"/>
          </a:xfrm>
        </p:spPr>
        <p:txBody>
          <a:bodyPr>
            <a:normAutofit/>
          </a:bodyPr>
          <a:lstStyle/>
          <a:p>
            <a:r>
              <a:rPr lang="en-US" sz="2600" dirty="0" err="1" smtClean="0">
                <a:solidFill>
                  <a:schemeClr val="bg1"/>
                </a:solidFill>
                <a:latin typeface="Times New Roman" panose="02020603050405020304" pitchFamily="18" charset="0"/>
                <a:cs typeface="Times New Roman" panose="02020603050405020304" pitchFamily="18" charset="0"/>
              </a:rPr>
              <a:t>Màn</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hình</a:t>
            </a:r>
            <a:r>
              <a:rPr lang="en-US" sz="2600" dirty="0" smtClean="0">
                <a:solidFill>
                  <a:schemeClr val="bg1"/>
                </a:solidFill>
                <a:latin typeface="Times New Roman" panose="02020603050405020304" pitchFamily="18" charset="0"/>
                <a:cs typeface="Times New Roman" panose="02020603050405020304" pitchFamily="18" charset="0"/>
              </a:rPr>
              <a:t> E810001 </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rPr>
              <a:t>Biểu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a:solidFill>
                  <a:schemeClr val="bg1"/>
                </a:solidFill>
                <a:latin typeface="Times New Roman" panose="02020603050405020304" pitchFamily="18" charset="0"/>
                <a:cs typeface="Times New Roman" panose="02020603050405020304" pitchFamily="18" charset="0"/>
              </a:rPr>
              <a:t>mẫu</a:t>
            </a:r>
            <a:r>
              <a:rPr lang="en-US" sz="2600" dirty="0">
                <a:solidFill>
                  <a:schemeClr val="bg1"/>
                </a:solidFill>
                <a:latin typeface="Times New Roman" panose="02020603050405020304" pitchFamily="18" charset="0"/>
                <a:cs typeface="Times New Roman" panose="02020603050405020304" pitchFamily="18" charset="0"/>
              </a:rPr>
              <a:t> </a:t>
            </a:r>
            <a:r>
              <a:rPr lang="en-US" sz="2600" dirty="0" err="1">
                <a:solidFill>
                  <a:schemeClr val="bg1"/>
                </a:solidFill>
                <a:latin typeface="Times New Roman" panose="02020603050405020304" pitchFamily="18" charset="0"/>
                <a:cs typeface="Times New Roman" panose="02020603050405020304" pitchFamily="18" charset="0"/>
              </a:rPr>
              <a:t>tương</a:t>
            </a:r>
            <a:r>
              <a:rPr lang="en-US" sz="2600" dirty="0">
                <a:solidFill>
                  <a:schemeClr val="bg1"/>
                </a:solidFill>
                <a:latin typeface="Times New Roman" panose="02020603050405020304" pitchFamily="18" charset="0"/>
                <a:cs typeface="Times New Roman" panose="02020603050405020304" pitchFamily="18" charset="0"/>
              </a:rPr>
              <a:t> </a:t>
            </a:r>
            <a:r>
              <a:rPr lang="en-US" sz="2600" dirty="0" err="1">
                <a:solidFill>
                  <a:schemeClr val="bg1"/>
                </a:solidFill>
                <a:latin typeface="Times New Roman" panose="02020603050405020304" pitchFamily="18" charset="0"/>
                <a:cs typeface="Times New Roman" panose="02020603050405020304" pitchFamily="18" charset="0"/>
              </a:rPr>
              <a:t>ứng</a:t>
            </a:r>
            <a:r>
              <a:rPr lang="en-US" sz="2600" dirty="0">
                <a:solidFill>
                  <a:schemeClr val="bg1"/>
                </a:solidFill>
                <a:latin typeface="Times New Roman" panose="02020603050405020304" pitchFamily="18" charset="0"/>
                <a:cs typeface="Times New Roman" panose="02020603050405020304" pitchFamily="18" charset="0"/>
              </a:rPr>
              <a:t>: E81000101, </a:t>
            </a:r>
            <a:r>
              <a:rPr lang="en-US" sz="2600" dirty="0" smtClean="0">
                <a:solidFill>
                  <a:schemeClr val="bg1"/>
                </a:solidFill>
                <a:latin typeface="Times New Roman" panose="02020603050405020304" pitchFamily="18" charset="0"/>
                <a:cs typeface="Times New Roman" panose="02020603050405020304" pitchFamily="18" charset="0"/>
              </a:rPr>
              <a:t>E81000102</a:t>
            </a:r>
          </a:p>
          <a:p>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Mặc</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định</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các</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trường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sẽ</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sử</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dụng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chung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khi</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có</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các</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yêu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cầu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đặc</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thù</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Tách</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nếu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cần</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thiết</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a:t>
            </a:r>
          </a:p>
          <a:p>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Nếu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khách</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hàng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cung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cấp</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là</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dạng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group,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tổng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hợp</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Trên</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màn</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hình</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chức</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năng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phải</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có</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2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1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xuất</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dữ</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liệu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details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và</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1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mẫu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group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theo</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yêu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cầu</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khách</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 </a:t>
            </a:r>
            <a:r>
              <a:rPr lang="en-US" sz="2600" dirty="0" err="1"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hàng</a:t>
            </a:r>
            <a:r>
              <a:rPr lang="en-US" sz="2600" dirty="0" smtClean="0">
                <a:solidFill>
                  <a:schemeClr val="bg1"/>
                </a:solidFill>
                <a:latin typeface="Times New Roman" panose="02020603050405020304" pitchFamily="18" charset="0"/>
                <a:cs typeface="Times New Roman" panose="02020603050405020304" pitchFamily="18" charset="0"/>
                <a:sym typeface="Wingdings" panose="05000000000000000000" pitchFamily="2" charset="2"/>
              </a:rPr>
              <a:t>.</a:t>
            </a:r>
          </a:p>
          <a:p>
            <a:r>
              <a:rPr lang="en-US" dirty="0" err="1">
                <a:solidFill>
                  <a:srgbClr val="C00000"/>
                </a:solidFill>
                <a:sym typeface="Wingdings" panose="05000000000000000000" pitchFamily="2" charset="2"/>
              </a:rPr>
              <a:t>Nếu</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biểu</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mẫu</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khách</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hàng</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đã</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tồn</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tại</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thì</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luôn</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luôn</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ưu</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tiên</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biểu</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mẫu</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khách</a:t>
            </a:r>
            <a:r>
              <a:rPr lang="en-US" dirty="0">
                <a:solidFill>
                  <a:srgbClr val="C00000"/>
                </a:solidFill>
                <a:sym typeface="Wingdings" panose="05000000000000000000" pitchFamily="2" charset="2"/>
              </a:rPr>
              <a:t> </a:t>
            </a:r>
            <a:r>
              <a:rPr lang="en-US" dirty="0" err="1">
                <a:solidFill>
                  <a:srgbClr val="C00000"/>
                </a:solidFill>
                <a:sym typeface="Wingdings" panose="05000000000000000000" pitchFamily="2" charset="2"/>
              </a:rPr>
              <a:t>hàng</a:t>
            </a:r>
            <a:r>
              <a:rPr lang="en-US" dirty="0">
                <a:solidFill>
                  <a:srgbClr val="C00000"/>
                </a:solidFill>
                <a:sym typeface="Wingdings" panose="05000000000000000000" pitchFamily="2" charset="2"/>
              </a:rPr>
              <a:t>.</a:t>
            </a:r>
            <a:endParaRPr lang="en-US" dirty="0">
              <a:solidFill>
                <a:srgbClr val="C00000"/>
              </a:solidFill>
            </a:endParaRPr>
          </a:p>
        </p:txBody>
      </p:sp>
      <p:sp>
        <p:nvSpPr>
          <p:cNvPr id="4" name="Title 1"/>
          <p:cNvSpPr>
            <a:spLocks noGrp="1"/>
          </p:cNvSpPr>
          <p:nvPr>
            <p:ph type="title"/>
          </p:nvPr>
        </p:nvSpPr>
        <p:spPr>
          <a:xfrm>
            <a:off x="0" y="113191"/>
            <a:ext cx="12191999" cy="1005746"/>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6</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BIỂU MẪU (1)</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990738277"/>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63" y="1491916"/>
            <a:ext cx="11939335" cy="5281863"/>
          </a:xfrm>
        </p:spPr>
        <p:txBody>
          <a:bodyPr/>
          <a:lstStyle/>
          <a:p>
            <a:r>
              <a:rPr lang="en-US" dirty="0" smtClean="0">
                <a:solidFill>
                  <a:schemeClr val="bg1"/>
                </a:solidFill>
                <a:sym typeface="Wingdings" panose="05000000000000000000" pitchFamily="2" charset="2"/>
              </a:rPr>
              <a:t> </a:t>
            </a:r>
            <a:r>
              <a:rPr lang="en-US" dirty="0" err="1">
                <a:solidFill>
                  <a:schemeClr val="bg1"/>
                </a:solidFill>
                <a:sym typeface="Wingdings" panose="05000000000000000000" pitchFamily="2" charset="2"/>
              </a:rPr>
              <a:t>Thực</a:t>
            </a:r>
            <a:r>
              <a:rPr lang="en-US" dirty="0">
                <a:solidFill>
                  <a:schemeClr val="bg1"/>
                </a:solidFill>
                <a:sym typeface="Wingdings" panose="05000000000000000000" pitchFamily="2" charset="2"/>
              </a:rPr>
              <a:t> </a:t>
            </a:r>
            <a:r>
              <a:rPr lang="en-US" dirty="0" err="1">
                <a:solidFill>
                  <a:schemeClr val="bg1"/>
                </a:solidFill>
                <a:sym typeface="Wingdings" panose="05000000000000000000" pitchFamily="2" charset="2"/>
              </a:rPr>
              <a:t>hiện</a:t>
            </a:r>
            <a:r>
              <a:rPr lang="en-US" dirty="0">
                <a:solidFill>
                  <a:schemeClr val="bg1"/>
                </a:solidFill>
                <a:sym typeface="Wingdings" panose="05000000000000000000" pitchFamily="2" charset="2"/>
              </a:rPr>
              <a:t> check </a:t>
            </a:r>
            <a:r>
              <a:rPr lang="en-US" dirty="0" err="1">
                <a:solidFill>
                  <a:schemeClr val="bg1"/>
                </a:solidFill>
                <a:sym typeface="Wingdings" panose="05000000000000000000" pitchFamily="2" charset="2"/>
              </a:rPr>
              <a:t>mẫu</a:t>
            </a:r>
            <a:r>
              <a:rPr lang="en-US" dirty="0">
                <a:solidFill>
                  <a:schemeClr val="bg1"/>
                </a:solidFill>
                <a:sym typeface="Wingdings" panose="05000000000000000000" pitchFamily="2" charset="2"/>
              </a:rPr>
              <a:t> </a:t>
            </a:r>
            <a:r>
              <a:rPr lang="en-US" dirty="0" err="1">
                <a:solidFill>
                  <a:schemeClr val="bg1"/>
                </a:solidFill>
                <a:sym typeface="Wingdings" panose="05000000000000000000" pitchFamily="2" charset="2"/>
              </a:rPr>
              <a:t>lên</a:t>
            </a:r>
            <a:r>
              <a:rPr lang="en-US" dirty="0">
                <a:solidFill>
                  <a:schemeClr val="bg1"/>
                </a:solidFill>
                <a:sym typeface="Wingdings" panose="05000000000000000000" pitchFamily="2" charset="2"/>
              </a:rPr>
              <a:t> TFS: </a:t>
            </a:r>
            <a:endParaRPr lang="en-US" dirty="0" smtClean="0">
              <a:solidFill>
                <a:schemeClr val="bg1"/>
              </a:solidFill>
              <a:sym typeface="Wingdings" panose="05000000000000000000" pitchFamily="2" charset="2"/>
            </a:endParaRPr>
          </a:p>
          <a:p>
            <a:r>
              <a:rPr lang="en-US" dirty="0" err="1" smtClean="0">
                <a:solidFill>
                  <a:schemeClr val="bg1"/>
                </a:solidFill>
                <a:sym typeface="Wingdings" panose="05000000000000000000" pitchFamily="2" charset="2"/>
              </a:rPr>
              <a:t>Nếu</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mẫu</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chức</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năng</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mới</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dùng</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chung</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Để</a:t>
            </a:r>
            <a:r>
              <a:rPr lang="en-US" dirty="0" smtClean="0">
                <a:solidFill>
                  <a:schemeClr val="bg1"/>
                </a:solidFill>
                <a:sym typeface="Wingdings" panose="05000000000000000000" pitchFamily="2" charset="2"/>
              </a:rPr>
              <a:t> ở </a:t>
            </a:r>
            <a:r>
              <a:rPr lang="en-US" dirty="0" err="1" smtClean="0">
                <a:solidFill>
                  <a:schemeClr val="bg1"/>
                </a:solidFill>
                <a:sym typeface="Wingdings" panose="05000000000000000000" pitchFamily="2" charset="2"/>
              </a:rPr>
              <a:t>thư</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mục</a:t>
            </a:r>
            <a:r>
              <a:rPr lang="en-US" dirty="0" smtClean="0">
                <a:solidFill>
                  <a:schemeClr val="bg1"/>
                </a:solidFill>
                <a:sym typeface="Wingdings" panose="05000000000000000000" pitchFamily="2" charset="2"/>
              </a:rPr>
              <a:t> 15_TEMPLATE</a:t>
            </a:r>
          </a:p>
          <a:p>
            <a:r>
              <a:rPr lang="en-US" dirty="0" err="1" smtClean="0">
                <a:solidFill>
                  <a:schemeClr val="bg1"/>
                </a:solidFill>
                <a:sym typeface="Wingdings" panose="05000000000000000000" pitchFamily="2" charset="2"/>
              </a:rPr>
              <a:t>Nếu</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mẫu</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chỉnh</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sửa</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riêng</a:t>
            </a:r>
            <a:r>
              <a:rPr lang="en-US" dirty="0" smtClean="0">
                <a:solidFill>
                  <a:schemeClr val="bg1"/>
                </a:solidFill>
                <a:sym typeface="Wingdings" panose="05000000000000000000" pitchFamily="2" charset="2"/>
              </a:rPr>
              <a:t> cho </a:t>
            </a:r>
            <a:r>
              <a:rPr lang="en-US" dirty="0" err="1" smtClean="0">
                <a:solidFill>
                  <a:schemeClr val="bg1"/>
                </a:solidFill>
                <a:sym typeface="Wingdings" panose="05000000000000000000" pitchFamily="2" charset="2"/>
              </a:rPr>
              <a:t>trường</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Thư</a:t>
            </a:r>
            <a:r>
              <a:rPr lang="en-US" dirty="0" smtClean="0">
                <a:solidFill>
                  <a:schemeClr val="bg1"/>
                </a:solidFill>
                <a:sym typeface="Wingdings" panose="05000000000000000000" pitchFamily="2" charset="2"/>
              </a:rPr>
              <a:t> </a:t>
            </a:r>
            <a:r>
              <a:rPr lang="en-US" dirty="0" err="1" smtClean="0">
                <a:solidFill>
                  <a:schemeClr val="bg1"/>
                </a:solidFill>
                <a:sym typeface="Wingdings" panose="05000000000000000000" pitchFamily="2" charset="2"/>
              </a:rPr>
              <a:t>mục</a:t>
            </a:r>
            <a:r>
              <a:rPr lang="en-US" dirty="0" smtClean="0">
                <a:solidFill>
                  <a:schemeClr val="bg1"/>
                </a:solidFill>
                <a:sym typeface="Wingdings" panose="05000000000000000000" pitchFamily="2" charset="2"/>
              </a:rPr>
              <a:t> 15_TEMPLATE\</a:t>
            </a:r>
            <a:r>
              <a:rPr lang="en-US" dirty="0" err="1" smtClean="0">
                <a:solidFill>
                  <a:schemeClr val="bg1"/>
                </a:solidFill>
                <a:sym typeface="Wingdings" panose="05000000000000000000" pitchFamily="2" charset="2"/>
              </a:rPr>
              <a:t>Trường</a:t>
            </a:r>
            <a:endParaRPr lang="en-US" dirty="0">
              <a:solidFill>
                <a:schemeClr val="bg1"/>
              </a:solidFill>
            </a:endParaRPr>
          </a:p>
          <a:p>
            <a:endParaRPr lang="en-US" dirty="0"/>
          </a:p>
        </p:txBody>
      </p:sp>
      <p:sp>
        <p:nvSpPr>
          <p:cNvPr id="4" name="Title 1"/>
          <p:cNvSpPr>
            <a:spLocks noGrp="1"/>
          </p:cNvSpPr>
          <p:nvPr>
            <p:ph type="title"/>
          </p:nvPr>
        </p:nvSpPr>
        <p:spPr>
          <a:xfrm>
            <a:off x="0" y="113191"/>
            <a:ext cx="12191999" cy="1005746"/>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6</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BIỂU MẪU (2)</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479683" y="3128211"/>
            <a:ext cx="10925604" cy="3404936"/>
          </a:xfrm>
          <a:prstGeom prst="rect">
            <a:avLst/>
          </a:prstGeom>
        </p:spPr>
      </p:pic>
    </p:spTree>
    <p:extLst>
      <p:ext uri="{BB962C8B-B14F-4D97-AF65-F5344CB8AC3E}">
        <p14:creationId xmlns:p14="http://schemas.microsoft.com/office/powerpoint/2010/main" val="3597653784"/>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63" y="1491916"/>
            <a:ext cx="11939335" cy="5281863"/>
          </a:xfrm>
        </p:spPr>
        <p:txBody>
          <a:bodyPr/>
          <a:lstStyle/>
          <a:p>
            <a:r>
              <a:rPr lang="en-US" sz="2600" b="1" dirty="0" err="1" smtClean="0">
                <a:solidFill>
                  <a:schemeClr val="bg1"/>
                </a:solidFill>
                <a:latin typeface="Times New Roman" panose="02020603050405020304" pitchFamily="18" charset="0"/>
                <a:cs typeface="Times New Roman" panose="02020603050405020304" pitchFamily="18" charset="0"/>
              </a:rPr>
              <a:t>Lưu</a:t>
            </a:r>
            <a:r>
              <a:rPr lang="en-US" sz="2600" b="1" dirty="0" smtClean="0">
                <a:solidFill>
                  <a:schemeClr val="bg1"/>
                </a:solidFill>
                <a:latin typeface="Times New Roman" panose="02020603050405020304" pitchFamily="18" charset="0"/>
                <a:cs typeface="Times New Roman" panose="02020603050405020304" pitchFamily="18" charset="0"/>
              </a:rPr>
              <a:t> ý:</a:t>
            </a:r>
          </a:p>
          <a:p>
            <a:pPr>
              <a:buFontTx/>
              <a:buChar char="-"/>
            </a:pPr>
            <a:r>
              <a:rPr lang="en-US" sz="2600" dirty="0" err="1" smtClean="0">
                <a:solidFill>
                  <a:schemeClr val="bg1"/>
                </a:solidFill>
                <a:latin typeface="Times New Roman" panose="02020603050405020304" pitchFamily="18" charset="0"/>
                <a:cs typeface="Times New Roman" panose="02020603050405020304" pitchFamily="18" charset="0"/>
              </a:rPr>
              <a:t>Luôn</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luôn</a:t>
            </a:r>
            <a:r>
              <a:rPr lang="en-US" sz="2600" dirty="0" smtClean="0">
                <a:solidFill>
                  <a:schemeClr val="bg1"/>
                </a:solidFill>
                <a:latin typeface="Times New Roman" panose="02020603050405020304" pitchFamily="18" charset="0"/>
                <a:cs typeface="Times New Roman" panose="02020603050405020304" pitchFamily="18" charset="0"/>
              </a:rPr>
              <a:t> check </a:t>
            </a:r>
            <a:r>
              <a:rPr lang="en-US" sz="2600" dirty="0" err="1" smtClean="0">
                <a:solidFill>
                  <a:schemeClr val="bg1"/>
                </a:solidFill>
                <a:latin typeface="Times New Roman" panose="02020603050405020304" pitchFamily="18" charset="0"/>
                <a:cs typeface="Times New Roman" panose="02020603050405020304" pitchFamily="18" charset="0"/>
              </a:rPr>
              <a:t>biểu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mẫu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lên</a:t>
            </a:r>
            <a:r>
              <a:rPr lang="en-US" sz="2600" dirty="0" smtClean="0">
                <a:solidFill>
                  <a:schemeClr val="bg1"/>
                </a:solidFill>
                <a:latin typeface="Times New Roman" panose="02020603050405020304" pitchFamily="18" charset="0"/>
                <a:cs typeface="Times New Roman" panose="02020603050405020304" pitchFamily="18" charset="0"/>
              </a:rPr>
              <a:t> TFS </a:t>
            </a:r>
            <a:r>
              <a:rPr lang="en-US" sz="2600" dirty="0" err="1" smtClean="0">
                <a:solidFill>
                  <a:schemeClr val="bg1"/>
                </a:solidFill>
                <a:latin typeface="Times New Roman" panose="02020603050405020304" pitchFamily="18" charset="0"/>
                <a:cs typeface="Times New Roman" panose="02020603050405020304" pitchFamily="18" charset="0"/>
              </a:rPr>
              <a:t>sau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khi</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thực</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hiện</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xong</a:t>
            </a:r>
            <a:r>
              <a:rPr lang="en-US" sz="2600" dirty="0" smtClean="0">
                <a:solidFill>
                  <a:schemeClr val="bg1"/>
                </a:solidFill>
                <a:latin typeface="Times New Roman" panose="02020603050405020304" pitchFamily="18" charset="0"/>
                <a:cs typeface="Times New Roman" panose="02020603050405020304" pitchFamily="18" charset="0"/>
              </a:rPr>
              <a:t> task.</a:t>
            </a:r>
          </a:p>
          <a:p>
            <a:pPr>
              <a:buFontTx/>
              <a:buChar char="-"/>
            </a:pPr>
            <a:r>
              <a:rPr lang="en-US" sz="2600" dirty="0" err="1" smtClean="0">
                <a:solidFill>
                  <a:schemeClr val="bg1"/>
                </a:solidFill>
                <a:latin typeface="Times New Roman" panose="02020603050405020304" pitchFamily="18" charset="0"/>
                <a:cs typeface="Times New Roman" panose="02020603050405020304" pitchFamily="18" charset="0"/>
              </a:rPr>
              <a:t>Nếu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mẫu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mới</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thì</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phải</a:t>
            </a:r>
            <a:r>
              <a:rPr lang="en-US" sz="2600" dirty="0" smtClean="0">
                <a:solidFill>
                  <a:schemeClr val="bg1"/>
                </a:solidFill>
                <a:latin typeface="Times New Roman" panose="02020603050405020304" pitchFamily="18" charset="0"/>
                <a:cs typeface="Times New Roman" panose="02020603050405020304" pitchFamily="18" charset="0"/>
              </a:rPr>
              <a:t> check </a:t>
            </a:r>
            <a:r>
              <a:rPr lang="en-US" sz="2600" dirty="0" err="1" smtClean="0">
                <a:solidFill>
                  <a:schemeClr val="bg1"/>
                </a:solidFill>
                <a:latin typeface="Times New Roman" panose="02020603050405020304" pitchFamily="18" charset="0"/>
                <a:cs typeface="Times New Roman" panose="02020603050405020304" pitchFamily="18" charset="0"/>
              </a:rPr>
              <a:t>đè</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biểu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mẫu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cũ</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không</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nên</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để</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trong</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thư</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mục</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trường</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nhiều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biểu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mẫu</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cùng</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mã</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Trừ</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khi</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cần</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thiết</a:t>
            </a:r>
            <a:r>
              <a:rPr lang="en-US" sz="2600" dirty="0" smtClean="0">
                <a:solidFill>
                  <a:schemeClr val="bg1"/>
                </a:solidFill>
                <a:latin typeface="Times New Roman" panose="02020603050405020304" pitchFamily="18" charset="0"/>
                <a:cs typeface="Times New Roman" panose="02020603050405020304" pitchFamily="18" charset="0"/>
              </a:rPr>
              <a:t>)</a:t>
            </a:r>
            <a:endParaRPr lang="en-US" sz="2600" dirty="0">
              <a:solidFill>
                <a:schemeClr val="bg1"/>
              </a:solidFill>
              <a:latin typeface="Times New Roman" panose="02020603050405020304" pitchFamily="18" charset="0"/>
              <a:cs typeface="Times New Roman" panose="02020603050405020304" pitchFamily="18" charset="0"/>
            </a:endParaRPr>
          </a:p>
          <a:p>
            <a:endParaRPr lang="en-US" dirty="0"/>
          </a:p>
        </p:txBody>
      </p:sp>
      <p:sp>
        <p:nvSpPr>
          <p:cNvPr id="4" name="Title 1"/>
          <p:cNvSpPr>
            <a:spLocks noGrp="1"/>
          </p:cNvSpPr>
          <p:nvPr>
            <p:ph type="title"/>
          </p:nvPr>
        </p:nvSpPr>
        <p:spPr>
          <a:xfrm>
            <a:off x="0" y="113191"/>
            <a:ext cx="12191999" cy="1005746"/>
          </a:xfrm>
        </p:spPr>
        <p:txBody>
          <a:bodyPr>
            <a:normAutofit/>
          </a:bodyPr>
          <a:lstStyle/>
          <a:p>
            <a:pPr algn="ctr"/>
            <a:r>
              <a:rPr lang="en-US" sz="4000" dirty="0">
                <a:solidFill>
                  <a:srgbClr val="005AAB"/>
                </a:solidFill>
                <a:latin typeface="Times New Roman" panose="02020603050405020304" pitchFamily="18" charset="0"/>
                <a:ea typeface="Tahoma" panose="020B0604030504040204" pitchFamily="34" charset="0"/>
                <a:cs typeface="Times New Roman" panose="02020603050405020304" pitchFamily="18" charset="0"/>
              </a:rPr>
              <a:t>6</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 QUY ĐỊNH VỀ BIỂU MẪU (3)</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94389633"/>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63" y="1491916"/>
            <a:ext cx="11939335" cy="5281863"/>
          </a:xfrm>
        </p:spPr>
        <p:txBody>
          <a:bodyPr/>
          <a:lstStyle/>
          <a:p>
            <a:r>
              <a:rPr lang="en-US" sz="2600" dirty="0" err="1" smtClean="0">
                <a:solidFill>
                  <a:schemeClr val="bg1"/>
                </a:solidFill>
                <a:latin typeface="Times New Roman" panose="02020603050405020304" pitchFamily="18" charset="0"/>
                <a:cs typeface="Times New Roman" panose="02020603050405020304" pitchFamily="18" charset="0"/>
              </a:rPr>
              <a:t>Sử</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dụng</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các</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thư</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viện</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trên</a:t>
            </a:r>
            <a:r>
              <a:rPr lang="en-US" sz="2600" dirty="0" smtClean="0">
                <a:solidFill>
                  <a:schemeClr val="bg1"/>
                </a:solidFill>
                <a:latin typeface="Times New Roman" panose="02020603050405020304" pitchFamily="18" charset="0"/>
                <a:cs typeface="Times New Roman" panose="02020603050405020304" pitchFamily="18" charset="0"/>
              </a:rPr>
              <a:t> server cung </a:t>
            </a:r>
            <a:r>
              <a:rPr lang="en-US" sz="2600" dirty="0" err="1" smtClean="0">
                <a:solidFill>
                  <a:schemeClr val="bg1"/>
                </a:solidFill>
                <a:latin typeface="Times New Roman" panose="02020603050405020304" pitchFamily="18" charset="0"/>
                <a:cs typeface="Times New Roman" panose="02020603050405020304" pitchFamily="18" charset="0"/>
              </a:rPr>
              <a:t>cấp</a:t>
            </a:r>
            <a:r>
              <a:rPr lang="en-US" sz="2600" dirty="0">
                <a:solidFill>
                  <a:schemeClr val="bg1"/>
                </a:solidFill>
                <a:latin typeface="Times New Roman" panose="02020603050405020304" pitchFamily="18" charset="0"/>
                <a:cs typeface="Times New Roman" panose="02020603050405020304" pitchFamily="18" charset="0"/>
              </a:rPr>
              <a:t>: </a:t>
            </a:r>
            <a:r>
              <a:rPr lang="en-US" sz="2600" dirty="0">
                <a:solidFill>
                  <a:schemeClr val="bg1"/>
                </a:solidFill>
                <a:latin typeface="Times New Roman" panose="02020603050405020304" pitchFamily="18" charset="0"/>
                <a:cs typeface="Times New Roman" panose="02020603050405020304" pitchFamily="18" charset="0"/>
                <a:hlinkClick r:id="rId2" action="ppaction://hlinkfile"/>
              </a:rPr>
              <a:t>\\192.168.0.6\References</a:t>
            </a:r>
            <a:endParaRPr lang="en-US" sz="2600" dirty="0">
              <a:solidFill>
                <a:schemeClr val="bg1"/>
              </a:solidFill>
              <a:latin typeface="Times New Roman" panose="02020603050405020304" pitchFamily="18" charset="0"/>
              <a:cs typeface="Times New Roman" panose="02020603050405020304" pitchFamily="18" charset="0"/>
            </a:endParaRPr>
          </a:p>
          <a:p>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Các</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thư</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viện</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mới</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phải</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đưa</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lên</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server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để</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tất</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cả</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các</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máy</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client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có</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accent3">
                    <a:lumMod val="50000"/>
                  </a:schemeClr>
                </a:solidFill>
                <a:latin typeface="Times New Roman" panose="02020603050405020304" pitchFamily="18" charset="0"/>
                <a:cs typeface="Times New Roman" panose="02020603050405020304" pitchFamily="18" charset="0"/>
              </a:rPr>
              <a:t>thể</a:t>
            </a:r>
            <a:r>
              <a:rPr lang="en-US" sz="2600" dirty="0" smtClean="0">
                <a:solidFill>
                  <a:schemeClr val="accent3">
                    <a:lumMod val="50000"/>
                  </a:schemeClr>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sử</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dụng</a:t>
            </a:r>
            <a:r>
              <a:rPr lang="en-US" sz="2600" dirty="0" smtClean="0">
                <a:solidFill>
                  <a:schemeClr val="bg1"/>
                </a:solidFill>
                <a:latin typeface="Times New Roman" panose="02020603050405020304" pitchFamily="18" charset="0"/>
                <a:cs typeface="Times New Roman" panose="02020603050405020304" pitchFamily="18" charset="0"/>
              </a:rPr>
              <a:t>.</a:t>
            </a:r>
            <a:endParaRPr lang="en-US" dirty="0" smtClean="0"/>
          </a:p>
          <a:p>
            <a:r>
              <a:rPr lang="en-US" sz="2600" dirty="0" err="1" smtClean="0">
                <a:solidFill>
                  <a:schemeClr val="bg1"/>
                </a:solidFill>
                <a:latin typeface="Times New Roman" panose="02020603050405020304" pitchFamily="18" charset="0"/>
                <a:cs typeface="Times New Roman" panose="02020603050405020304" pitchFamily="18" charset="0"/>
              </a:rPr>
              <a:t>Tài</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khoản</a:t>
            </a:r>
            <a:r>
              <a:rPr lang="en-US" sz="2600" dirty="0" smtClean="0">
                <a:solidFill>
                  <a:schemeClr val="bg1"/>
                </a:solidFill>
                <a:latin typeface="Times New Roman" panose="02020603050405020304" pitchFamily="18" charset="0"/>
                <a:cs typeface="Times New Roman" panose="02020603050405020304" pitchFamily="18" charset="0"/>
              </a:rPr>
              <a:t>: (Leader </a:t>
            </a:r>
            <a:r>
              <a:rPr lang="en-US" sz="2600" dirty="0" err="1" smtClean="0">
                <a:solidFill>
                  <a:schemeClr val="bg1"/>
                </a:solidFill>
                <a:latin typeface="Times New Roman" panose="02020603050405020304" pitchFamily="18" charset="0"/>
                <a:cs typeface="Times New Roman" panose="02020603050405020304" pitchFamily="18" charset="0"/>
              </a:rPr>
              <a:t>đăng</a:t>
            </a:r>
            <a:r>
              <a:rPr lang="en-US" sz="2600" dirty="0" smtClean="0">
                <a:solidFill>
                  <a:schemeClr val="bg1"/>
                </a:solidFill>
                <a:latin typeface="Times New Roman" panose="02020603050405020304" pitchFamily="18" charset="0"/>
                <a:cs typeface="Times New Roman" panose="02020603050405020304" pitchFamily="18" charset="0"/>
              </a:rPr>
              <a:t> </a:t>
            </a:r>
            <a:r>
              <a:rPr lang="en-US" sz="2600" dirty="0" err="1" smtClean="0">
                <a:solidFill>
                  <a:schemeClr val="bg1"/>
                </a:solidFill>
                <a:latin typeface="Times New Roman" panose="02020603050405020304" pitchFamily="18" charset="0"/>
                <a:cs typeface="Times New Roman" panose="02020603050405020304" pitchFamily="18" charset="0"/>
              </a:rPr>
              <a:t>nhập</a:t>
            </a:r>
            <a:r>
              <a:rPr lang="en-US" sz="2600" dirty="0" smtClean="0">
                <a:solidFill>
                  <a:schemeClr val="bg1"/>
                </a:solidFill>
                <a:latin typeface="Times New Roman" panose="02020603050405020304" pitchFamily="18" charset="0"/>
                <a:cs typeface="Times New Roman" panose="02020603050405020304" pitchFamily="18" charset="0"/>
              </a:rPr>
              <a:t>)</a:t>
            </a:r>
            <a:endParaRPr lang="en-US" sz="2600" dirty="0">
              <a:solidFill>
                <a:schemeClr val="bg1"/>
              </a:solidFill>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0" y="113191"/>
            <a:ext cx="12191999" cy="1005746"/>
          </a:xfrm>
        </p:spPr>
        <p:txBody>
          <a:bodyPr>
            <a:normAutofit/>
          </a:body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7. QUY ĐỊNH VỀ REFERENCES</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4156553353"/>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663" y="1491916"/>
            <a:ext cx="11939335" cy="5281863"/>
          </a:xfrm>
        </p:spPr>
        <p:txBody>
          <a:bodyPr/>
          <a:lstStyle/>
          <a:p>
            <a:r>
              <a:rPr lang="en-US" sz="2600" dirty="0" err="1" smtClean="0">
                <a:solidFill>
                  <a:srgbClr val="C00000"/>
                </a:solidFill>
                <a:latin typeface="Times New Roman" panose="02020603050405020304" pitchFamily="18" charset="0"/>
                <a:cs typeface="Times New Roman" panose="02020603050405020304" pitchFamily="18" charset="0"/>
              </a:rPr>
              <a:t>Luôn</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luôn</a:t>
            </a:r>
            <a:r>
              <a:rPr lang="en-US" sz="2600" dirty="0" smtClean="0">
                <a:solidFill>
                  <a:srgbClr val="C00000"/>
                </a:solidFill>
                <a:latin typeface="Times New Roman" panose="02020603050405020304" pitchFamily="18" charset="0"/>
                <a:cs typeface="Times New Roman" panose="02020603050405020304" pitchFamily="18" charset="0"/>
              </a:rPr>
              <a:t> backup DB </a:t>
            </a:r>
            <a:r>
              <a:rPr lang="en-US" sz="2600" dirty="0" err="1" smtClean="0">
                <a:solidFill>
                  <a:srgbClr val="C00000"/>
                </a:solidFill>
                <a:latin typeface="Times New Roman" panose="02020603050405020304" pitchFamily="18" charset="0"/>
                <a:cs typeface="Times New Roman" panose="02020603050405020304" pitchFamily="18" charset="0"/>
              </a:rPr>
              <a:t>và</a:t>
            </a:r>
            <a:r>
              <a:rPr lang="en-US" sz="2600" dirty="0" smtClean="0">
                <a:solidFill>
                  <a:srgbClr val="C00000"/>
                </a:solidFill>
                <a:latin typeface="Times New Roman" panose="02020603050405020304" pitchFamily="18" charset="0"/>
                <a:cs typeface="Times New Roman" panose="02020603050405020304" pitchFamily="18" charset="0"/>
              </a:rPr>
              <a:t> source release </a:t>
            </a:r>
            <a:r>
              <a:rPr lang="en-US" sz="2600" dirty="0" err="1" smtClean="0">
                <a:solidFill>
                  <a:srgbClr val="C00000"/>
                </a:solidFill>
                <a:latin typeface="Times New Roman" panose="02020603050405020304" pitchFamily="18" charset="0"/>
                <a:cs typeface="Times New Roman" panose="02020603050405020304" pitchFamily="18" charset="0"/>
              </a:rPr>
              <a:t>cũ</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trước</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khi</a:t>
            </a:r>
            <a:r>
              <a:rPr lang="en-US" sz="2600" dirty="0" smtClean="0">
                <a:solidFill>
                  <a:srgbClr val="C00000"/>
                </a:solidFill>
                <a:latin typeface="Times New Roman" panose="02020603050405020304" pitchFamily="18" charset="0"/>
                <a:cs typeface="Times New Roman" panose="02020603050405020304" pitchFamily="18" charset="0"/>
              </a:rPr>
              <a:t> release </a:t>
            </a:r>
            <a:r>
              <a:rPr lang="en-US" sz="2600" dirty="0" err="1" smtClean="0">
                <a:solidFill>
                  <a:srgbClr val="C00000"/>
                </a:solidFill>
                <a:latin typeface="Times New Roman" panose="02020603050405020304" pitchFamily="18" charset="0"/>
                <a:cs typeface="Times New Roman" panose="02020603050405020304" pitchFamily="18" charset="0"/>
              </a:rPr>
              <a:t>phiên</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bản</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mới</a:t>
            </a:r>
            <a:r>
              <a:rPr lang="en-US" sz="2600" dirty="0" smtClean="0">
                <a:solidFill>
                  <a:srgbClr val="C00000"/>
                </a:solidFill>
                <a:latin typeface="Times New Roman" panose="02020603050405020304" pitchFamily="18" charset="0"/>
                <a:cs typeface="Times New Roman" panose="02020603050405020304" pitchFamily="18" charset="0"/>
              </a:rPr>
              <a:t>.</a:t>
            </a:r>
          </a:p>
          <a:p>
            <a:r>
              <a:rPr lang="en-US" sz="2600" dirty="0" err="1" smtClean="0">
                <a:solidFill>
                  <a:srgbClr val="C00000"/>
                </a:solidFill>
                <a:latin typeface="Times New Roman" panose="02020603050405020304" pitchFamily="18" charset="0"/>
                <a:cs typeface="Times New Roman" panose="02020603050405020304" pitchFamily="18" charset="0"/>
              </a:rPr>
              <a:t>Lưu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trữ</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cấu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trúc</a:t>
            </a:r>
            <a:r>
              <a:rPr lang="en-US" sz="2600" dirty="0" smtClean="0">
                <a:solidFill>
                  <a:srgbClr val="C00000"/>
                </a:solidFill>
                <a:latin typeface="Times New Roman" panose="02020603050405020304" pitchFamily="18" charset="0"/>
                <a:cs typeface="Times New Roman" panose="02020603050405020304" pitchFamily="18" charset="0"/>
              </a:rPr>
              <a:t> DB </a:t>
            </a:r>
            <a:r>
              <a:rPr lang="en-US" sz="2600" dirty="0" err="1" smtClean="0">
                <a:solidFill>
                  <a:srgbClr val="C00000"/>
                </a:solidFill>
                <a:latin typeface="Times New Roman" panose="02020603050405020304" pitchFamily="18" charset="0"/>
                <a:cs typeface="Times New Roman" panose="02020603050405020304" pitchFamily="18" charset="0"/>
              </a:rPr>
              <a:t>gốc</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của</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khách</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hàng</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tại</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công</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ty</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Lưu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trữ</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cấu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trúc</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vào</a:t>
            </a:r>
            <a:r>
              <a:rPr lang="en-US" sz="2600" dirty="0" smtClean="0">
                <a:solidFill>
                  <a:srgbClr val="C00000"/>
                </a:solidFill>
                <a:latin typeface="Times New Roman" panose="02020603050405020304" pitchFamily="18" charset="0"/>
                <a:cs typeface="Times New Roman" panose="02020603050405020304" pitchFamily="18" charset="0"/>
              </a:rPr>
              <a:t> server </a:t>
            </a:r>
            <a:r>
              <a:rPr lang="en-US" sz="2600" dirty="0" err="1" smtClean="0">
                <a:solidFill>
                  <a:srgbClr val="C00000"/>
                </a:solidFill>
                <a:latin typeface="Times New Roman" panose="02020603050405020304" pitchFamily="18" charset="0"/>
                <a:cs typeface="Times New Roman" panose="02020603050405020304" pitchFamily="18" charset="0"/>
              </a:rPr>
              <a:t>theo</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quy</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định</a:t>
            </a:r>
            <a:r>
              <a:rPr lang="en-US" sz="2600" dirty="0" smtClean="0">
                <a:solidFill>
                  <a:srgbClr val="C00000"/>
                </a:solidFill>
                <a:latin typeface="Times New Roman" panose="02020603050405020304" pitchFamily="18" charset="0"/>
                <a:cs typeface="Times New Roman" panose="02020603050405020304" pitchFamily="18" charset="0"/>
              </a:rPr>
              <a:t>)</a:t>
            </a:r>
          </a:p>
          <a:p>
            <a:r>
              <a:rPr lang="en-US" sz="2600" dirty="0" smtClean="0">
                <a:solidFill>
                  <a:srgbClr val="C00000"/>
                </a:solidFill>
                <a:latin typeface="Times New Roman" panose="02020603050405020304" pitchFamily="18" charset="0"/>
                <a:cs typeface="Times New Roman" panose="02020603050405020304" pitchFamily="18" charset="0"/>
              </a:rPr>
              <a:t>Compare </a:t>
            </a:r>
            <a:r>
              <a:rPr lang="en-US" sz="2600" dirty="0" err="1" smtClean="0">
                <a:solidFill>
                  <a:srgbClr val="C00000"/>
                </a:solidFill>
                <a:latin typeface="Times New Roman" panose="02020603050405020304" pitchFamily="18" charset="0"/>
                <a:cs typeface="Times New Roman" panose="02020603050405020304" pitchFamily="18" charset="0"/>
              </a:rPr>
              <a:t>cấu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trúc</a:t>
            </a:r>
            <a:r>
              <a:rPr lang="en-US" sz="2600" dirty="0" smtClean="0">
                <a:solidFill>
                  <a:srgbClr val="C00000"/>
                </a:solidFill>
                <a:latin typeface="Times New Roman" panose="02020603050405020304" pitchFamily="18" charset="0"/>
                <a:cs typeface="Times New Roman" panose="02020603050405020304" pitchFamily="18" charset="0"/>
              </a:rPr>
              <a:t> DB_ORG </a:t>
            </a:r>
            <a:r>
              <a:rPr lang="en-US" sz="2600" dirty="0" err="1" smtClean="0">
                <a:solidFill>
                  <a:srgbClr val="C00000"/>
                </a:solidFill>
                <a:latin typeface="Times New Roman" panose="02020603050405020304" pitchFamily="18" charset="0"/>
                <a:cs typeface="Times New Roman" panose="02020603050405020304" pitchFamily="18" charset="0"/>
              </a:rPr>
              <a:t>với</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cấu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trúc</a:t>
            </a:r>
            <a:r>
              <a:rPr lang="en-US" sz="2600" dirty="0" smtClean="0">
                <a:solidFill>
                  <a:srgbClr val="C00000"/>
                </a:solidFill>
                <a:latin typeface="Times New Roman" panose="02020603050405020304" pitchFamily="18" charset="0"/>
                <a:cs typeface="Times New Roman" panose="02020603050405020304" pitchFamily="18" charset="0"/>
              </a:rPr>
              <a:t> DB </a:t>
            </a:r>
            <a:r>
              <a:rPr lang="en-US" sz="2600" dirty="0" err="1" smtClean="0">
                <a:solidFill>
                  <a:srgbClr val="C00000"/>
                </a:solidFill>
                <a:latin typeface="Times New Roman" panose="02020603050405020304" pitchFamily="18" charset="0"/>
                <a:cs typeface="Times New Roman" panose="02020603050405020304" pitchFamily="18" charset="0"/>
              </a:rPr>
              <a:t>khách</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hàng</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đã</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lưu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trữ</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tại</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cty</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để</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có</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cấu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trúc</a:t>
            </a:r>
            <a:r>
              <a:rPr lang="en-US" sz="2600" dirty="0" smtClean="0">
                <a:solidFill>
                  <a:srgbClr val="C00000"/>
                </a:solidFill>
                <a:latin typeface="Times New Roman" panose="02020603050405020304" pitchFamily="18" charset="0"/>
                <a:cs typeface="Times New Roman" panose="02020603050405020304" pitchFamily="18" charset="0"/>
              </a:rPr>
              <a:t> thay </a:t>
            </a:r>
            <a:r>
              <a:rPr lang="en-US" sz="2600" dirty="0" err="1" smtClean="0">
                <a:solidFill>
                  <a:srgbClr val="C00000"/>
                </a:solidFill>
                <a:latin typeface="Times New Roman" panose="02020603050405020304" pitchFamily="18" charset="0"/>
                <a:cs typeface="Times New Roman" panose="02020603050405020304" pitchFamily="18" charset="0"/>
              </a:rPr>
              <a:t>đổi</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mang</a:t>
            </a:r>
            <a:r>
              <a:rPr lang="en-US" sz="2600" dirty="0" smtClean="0">
                <a:solidFill>
                  <a:srgbClr val="C00000"/>
                </a:solidFill>
                <a:latin typeface="Times New Roman" panose="02020603050405020304" pitchFamily="18" charset="0"/>
                <a:cs typeface="Times New Roman" panose="02020603050405020304" pitchFamily="18" charset="0"/>
              </a:rPr>
              <a:t> qua DB </a:t>
            </a:r>
            <a:r>
              <a:rPr lang="en-US" sz="2600" dirty="0" err="1" smtClean="0">
                <a:solidFill>
                  <a:srgbClr val="C00000"/>
                </a:solidFill>
                <a:latin typeface="Times New Roman" panose="02020603050405020304" pitchFamily="18" charset="0"/>
                <a:cs typeface="Times New Roman" panose="02020603050405020304" pitchFamily="18" charset="0"/>
              </a:rPr>
              <a:t>khách</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hàng</a:t>
            </a:r>
            <a:r>
              <a:rPr lang="en-US" sz="2600" dirty="0" smtClean="0">
                <a:solidFill>
                  <a:srgbClr val="C00000"/>
                </a:solidFill>
                <a:latin typeface="Times New Roman" panose="02020603050405020304" pitchFamily="18" charset="0"/>
                <a:cs typeface="Times New Roman" panose="02020603050405020304" pitchFamily="18" charset="0"/>
              </a:rPr>
              <a:t>.</a:t>
            </a:r>
          </a:p>
          <a:p>
            <a:r>
              <a:rPr lang="en-US" sz="2600" dirty="0" smtClean="0">
                <a:solidFill>
                  <a:srgbClr val="C00000"/>
                </a:solidFill>
                <a:latin typeface="Times New Roman" panose="02020603050405020304" pitchFamily="18" charset="0"/>
                <a:cs typeface="Times New Roman" panose="02020603050405020304" pitchFamily="18" charset="0"/>
              </a:rPr>
              <a:t>Release, </a:t>
            </a:r>
            <a:r>
              <a:rPr lang="en-US" sz="2600" dirty="0" err="1" smtClean="0">
                <a:solidFill>
                  <a:srgbClr val="C00000"/>
                </a:solidFill>
                <a:latin typeface="Times New Roman" panose="02020603050405020304" pitchFamily="18" charset="0"/>
                <a:cs typeface="Times New Roman" panose="02020603050405020304" pitchFamily="18" charset="0"/>
              </a:rPr>
              <a:t>phân</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quyền</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và</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cập</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nhật</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biểu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mẫu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nếu</a:t>
            </a:r>
            <a:r>
              <a:rPr lang="en-US" sz="2600" dirty="0" smtClean="0">
                <a:solidFill>
                  <a:srgbClr val="C00000"/>
                </a:solidFill>
                <a:latin typeface="Times New Roman" panose="02020603050405020304" pitchFamily="18" charset="0"/>
                <a:cs typeface="Times New Roman" panose="02020603050405020304" pitchFamily="18" charset="0"/>
              </a:rPr>
              <a:t> </a:t>
            </a:r>
            <a:r>
              <a:rPr lang="en-US" sz="2600" dirty="0" err="1" smtClean="0">
                <a:solidFill>
                  <a:srgbClr val="C00000"/>
                </a:solidFill>
                <a:latin typeface="Times New Roman" panose="02020603050405020304" pitchFamily="18" charset="0"/>
                <a:cs typeface="Times New Roman" panose="02020603050405020304" pitchFamily="18" charset="0"/>
              </a:rPr>
              <a:t>có</a:t>
            </a:r>
            <a:r>
              <a:rPr lang="en-US" sz="2600" dirty="0" smtClean="0">
                <a:solidFill>
                  <a:srgbClr val="C00000"/>
                </a:solidFill>
                <a:latin typeface="Times New Roman" panose="02020603050405020304" pitchFamily="18" charset="0"/>
                <a:cs typeface="Times New Roman" panose="02020603050405020304" pitchFamily="18" charset="0"/>
              </a:rPr>
              <a:t>.</a:t>
            </a:r>
            <a:endParaRPr lang="en-US" sz="2600" dirty="0">
              <a:solidFill>
                <a:srgbClr val="C00000"/>
              </a:solidFill>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0" y="113191"/>
            <a:ext cx="12191999" cy="1005746"/>
          </a:xfrm>
        </p:spPr>
        <p:txBody>
          <a:bodyPr>
            <a:normAutofit/>
          </a:bodyPr>
          <a:lstStyle/>
          <a:p>
            <a:pPr algn="ct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8.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QUY ĐỊNH VỀ </a:t>
            </a:r>
            <a:r>
              <a:rPr lang="en-US" sz="4000" dirty="0" smtClean="0">
                <a:solidFill>
                  <a:srgbClr val="005AAB"/>
                </a:solidFill>
                <a:latin typeface="Times New Roman" panose="02020603050405020304" pitchFamily="18" charset="0"/>
                <a:ea typeface="Tahoma" panose="020B0604030504040204" pitchFamily="34" charset="0"/>
                <a:cs typeface="Times New Roman" panose="02020603050405020304" pitchFamily="18" charset="0"/>
              </a:rPr>
              <a:t>RELEASE</a:t>
            </a:r>
            <a:endParaRPr lang="en-US" dirty="0">
              <a:solidFill>
                <a:srgbClr val="005AAB"/>
              </a:solid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81172170"/>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smtClean="0">
                <a:solidFill>
                  <a:srgbClr val="005AAB"/>
                </a:solidFill>
                <a:latin typeface="Tahoma" panose="020B0604030504040204" pitchFamily="34" charset="0"/>
                <a:ea typeface="Tahoma" panose="020B0604030504040204" pitchFamily="34" charset="0"/>
                <a:cs typeface="Tahoma" panose="020B0604030504040204" pitchFamily="34" charset="0"/>
              </a:rPr>
              <a:t>THE END</a:t>
            </a:r>
            <a:endParaRPr lang="en-US" b="1" dirty="0">
              <a:solidFill>
                <a:srgbClr val="005AAB"/>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p:txBody>
          <a:bodyPr>
            <a:normAutofit/>
          </a:bodyPr>
          <a:lstStyle/>
          <a:p>
            <a:pPr marL="0" indent="0" algn="ctr">
              <a:buNone/>
            </a:pPr>
            <a:r>
              <a:rPr lang="en-US" sz="360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rPr>
              <a:t>THANK YOU!</a:t>
            </a:r>
            <a:endParaRPr lang="en-US" sz="3600" dirty="0" smtClean="0">
              <a:solidFill>
                <a:schemeClr val="bg1">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18927293"/>
      </p:ext>
    </p:extLst>
  </p:cSld>
  <p:clrMapOvr>
    <a:masterClrMapping/>
  </p:clrMapOvr>
  <p:transition spd="med">
    <p:pull/>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1605</TotalTime>
  <Words>1999</Words>
  <Application>Microsoft Office PowerPoint</Application>
  <PresentationFormat>Widescreen</PresentationFormat>
  <Paragraphs>361</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vt:lpstr>
      <vt:lpstr>Calibri</vt:lpstr>
      <vt:lpstr>Cambria</vt:lpstr>
      <vt:lpstr>Tahoma</vt:lpstr>
      <vt:lpstr>Times New Roman</vt:lpstr>
      <vt:lpstr>Trebuchet MS</vt:lpstr>
      <vt:lpstr>Tw Cen MT</vt:lpstr>
      <vt:lpstr>Wingdings</vt:lpstr>
      <vt:lpstr>Circuit</vt:lpstr>
      <vt:lpstr>Quy định phòng sản xuất</vt:lpstr>
      <vt:lpstr>CÁC quy định về đánh giá khối lượng công việc  </vt:lpstr>
      <vt:lpstr>BẢNG QUY ĐỊNH VỀ ĐÁNH GIÁ XẾP LOẠI Thời gian</vt:lpstr>
      <vt:lpstr>BẢNG QUY ĐỊNH VỀ ĐÁNH GIÁ XẾP LOẠI quản lý</vt:lpstr>
      <vt:lpstr>CÁC QUY ĐỊNH TRONG CODE</vt:lpstr>
      <vt:lpstr>QUY ĐỊNH code sql</vt:lpstr>
      <vt:lpstr>QUY ĐỊNH khi tạo, chỉnh sửa table</vt:lpstr>
      <vt:lpstr>PowerPoint Presentation</vt:lpstr>
      <vt:lpstr>PowerPoint Presentation</vt:lpstr>
      <vt:lpstr>PowerPoint Presentation</vt:lpstr>
      <vt:lpstr>PowerPoint Presentation</vt:lpstr>
      <vt:lpstr>PowerPoint Presentation</vt:lpstr>
      <vt:lpstr>CÁC TOOL HỖ TRỢ SQL</vt:lpstr>
      <vt:lpstr>THÔNG TIN DATABASE (1)</vt:lpstr>
      <vt:lpstr>THÔNG TIN DATABASE (2)</vt:lpstr>
      <vt:lpstr>THÔNG TIN DATABASE (3)</vt:lpstr>
      <vt:lpstr>QUY ĐỊNH code c#</vt:lpstr>
      <vt:lpstr>1. QUY ĐỊNH VỀ KẾ THỪA FORM</vt:lpstr>
      <vt:lpstr>2. QUY ĐỊNH VỀ TẠO FORM, TÊN FORM, TÊN MENU</vt:lpstr>
      <vt:lpstr>3. MỘT SỐ FORM HỖ TRỢ NGHIỆP VỤ</vt:lpstr>
      <vt:lpstr>4. ĐỊNH DẠNG KIỂU DỮ LIỆU VÀ FORMAT HIỂN THỊ (1)</vt:lpstr>
      <vt:lpstr>4. ĐỊNH DẠNG KIỂU DỮ LIỆU VÀ FORMAT HIỂN THỊ</vt:lpstr>
      <vt:lpstr>5. QUY ĐỊNH KHÁC</vt:lpstr>
      <vt:lpstr>6. QUY ĐỊNH VỀ CODE (1)</vt:lpstr>
      <vt:lpstr>6. QUY ĐỊNH VỀ CODE(2) </vt:lpstr>
      <vt:lpstr>6. QUY ĐỊNH VỀ CODE(3) </vt:lpstr>
      <vt:lpstr>PowerPoint Presentation</vt:lpstr>
      <vt:lpstr>6. QUY ĐỊNH VỀ BIỂU MẪU (1)</vt:lpstr>
      <vt:lpstr>6. QUY ĐỊNH VỀ BIỂU MẪU (2)</vt:lpstr>
      <vt:lpstr>6. QUY ĐỊNH VỀ BIỂU MẪU (3)</vt:lpstr>
      <vt:lpstr>7. QUY ĐỊNH VỀ REFERENCES</vt:lpstr>
      <vt:lpstr>8. QUY ĐỊNH VỀ RELEASE</vt:lpstr>
      <vt:lpstr>THE END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Phòng triển khai  Training nghiệp vụ</dc:title>
  <dc:creator>duong tin</dc:creator>
  <cp:lastModifiedBy>Tranh Nguyễn Hồng</cp:lastModifiedBy>
  <cp:revision>306</cp:revision>
  <dcterms:created xsi:type="dcterms:W3CDTF">2017-11-20T08:47:36Z</dcterms:created>
  <dcterms:modified xsi:type="dcterms:W3CDTF">2018-08-01T02:41:40Z</dcterms:modified>
</cp:coreProperties>
</file>